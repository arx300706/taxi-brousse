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slides/slide1.xml" ContentType="application/vnd.openxmlformats-officedocument.presentationml.slide+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fr-FR" sz="1800" spc="-1" strike="noStrike">
                <a:solidFill>
                  <a:schemeClr val="dk1"/>
                </a:solidFill>
                <a:latin typeface="Aptos"/>
              </a:rPr>
              <a:t>Cliquez pour déplacer la diapo</a:t>
            </a:r>
            <a:endParaRPr b="0" lang="fr-FR" sz="1800" spc="-1" strike="noStrike">
              <a:solidFill>
                <a:schemeClr val="dk1"/>
              </a:solidFill>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CFC2DFC4-A161-4FDD-BE1E-6EA964A7DBAF}"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85800" y="1143000"/>
            <a:ext cx="5486040" cy="3085920"/>
          </a:xfrm>
          <a:prstGeom prst="rect">
            <a:avLst/>
          </a:prstGeom>
          <a:ln w="0">
            <a:noFill/>
          </a:ln>
        </p:spPr>
      </p:sp>
      <p:sp>
        <p:nvSpPr>
          <p:cNvPr id="1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Bonjour, nous allons présenter notre projet SIG : une application de webmapping pour visualiser et analyser les lignes de bus urbains d'Antananarivo. La version finale combine l'ancienne présentation, qui était centrée sur 146, 147 et 178, avec la nouvelle version qui ajoute la ligne 187 et des fonctionnalités supplémentaires.</a:t>
            </a:r>
            <a:endParaRPr b="0" lang="fr-FR" sz="2000" spc="-1" strike="noStrike">
              <a:solidFill>
                <a:srgbClr val="000000"/>
              </a:solidFill>
              <a:latin typeface="Arial"/>
            </a:endParaRPr>
          </a:p>
        </p:txBody>
      </p:sp>
      <p:sp>
        <p:nvSpPr>
          <p:cNvPr id="17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475E8DB-DCB9-4DA5-BA2E-D83D1F61602A}"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685800" y="1143000"/>
            <a:ext cx="5486040" cy="3085920"/>
          </a:xfrm>
          <a:prstGeom prst="rect">
            <a:avLst/>
          </a:prstGeom>
          <a:ln w="0">
            <a:noFill/>
          </a:ln>
        </p:spPr>
      </p:sp>
      <p:sp>
        <p:nvSpPr>
          <p:cNvPr id="1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problématique vient d'un besoin très concret : quand quelqu'un ne connaît pas bien Antananarivo, il dépend souvent des indications orales. L'intérêt du SIG est de transformer les lignes, les arrêts et les bus en objets spatiaux exploitables, capables de répondre à des questions de distance et de proximité.</a:t>
            </a:r>
            <a:endParaRPr b="0" lang="fr-FR" sz="2000" spc="-1" strike="noStrike">
              <a:solidFill>
                <a:srgbClr val="000000"/>
              </a:solidFill>
              <a:latin typeface="Arial"/>
            </a:endParaRPr>
          </a:p>
        </p:txBody>
      </p:sp>
      <p:sp>
        <p:nvSpPr>
          <p:cNvPr id="17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A0FD63D-1D0A-4B75-9492-CA227753A963}"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685800" y="1143000"/>
            <a:ext cx="5486040" cy="3085920"/>
          </a:xfrm>
          <a:prstGeom prst="rect">
            <a:avLst/>
          </a:prstGeom>
          <a:ln w="0">
            <a:noFill/>
          </a:ln>
        </p:spPr>
      </p:sp>
      <p:sp>
        <p:nvSpPr>
          <p:cNvPr id="1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L'application est en trois tiers. Le client affiche la carte et récupère les données. Le serveur Spring Boot expose les routes REST et prépare les réponses JSON. La base PostgreSQL/PostGIS fait le travail SIG : stockage géométrique, calculs de distance et export GeoJSON.</a:t>
            </a:r>
            <a:endParaRPr b="0" lang="fr-FR" sz="2000" spc="-1" strike="noStrike">
              <a:solidFill>
                <a:srgbClr val="000000"/>
              </a:solidFill>
              <a:latin typeface="Arial"/>
            </a:endParaRPr>
          </a:p>
        </p:txBody>
      </p:sp>
      <p:sp>
        <p:nvSpPr>
          <p:cNvPr id="17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0ECAB1F-68AC-4189-AB0F-DEEF845E8E60}"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685800" y="1143000"/>
            <a:ext cx="5486040" cy="3085920"/>
          </a:xfrm>
          <a:prstGeom prst="rect">
            <a:avLst/>
          </a:prstGeom>
          <a:ln w="0">
            <a:noFill/>
          </a:ln>
        </p:spPr>
      </p:sp>
      <p:sp>
        <p:nvSpPr>
          <p:cNvPr id="1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fonctionnalité la plus importante est la combinaison entre visualisation et analyse. L'utilisateur voit les lignes, mais il peut aussi chercher, cliquer, se localiser, trouver l'arrêt le plus proche et obtenir une suggestion de ligne. Le mode démonstration est utile pour présenter le projet en classe sans dépendre totalement du backend ou de la précision GPS.</a:t>
            </a:r>
            <a:endParaRPr b="0" lang="fr-FR" sz="2000" spc="-1" strike="noStrike">
              <a:solidFill>
                <a:srgbClr val="000000"/>
              </a:solidFill>
              <a:latin typeface="Arial"/>
            </a:endParaRPr>
          </a:p>
        </p:txBody>
      </p:sp>
      <p:sp>
        <p:nvSpPr>
          <p:cNvPr id="18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305425B-5C17-45F9-B6BF-4BA18DF6BDDF}"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685800" y="1143000"/>
            <a:ext cx="5486040" cy="3085920"/>
          </a:xfrm>
          <a:prstGeom prst="rect">
            <a:avLst/>
          </a:prstGeom>
          <a:ln w="0">
            <a:noFill/>
          </a:ln>
        </p:spPr>
      </p:sp>
      <p:sp>
        <p:nvSpPr>
          <p:cNvPr id="1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Pendant la démonstration, ne pas tout montrer en désordre. Il faut suivre un scénario clair : ouvrir le site, montrer la sidebar, cliquer sur une ligne, afficher les arrêts et les bus, déclencher la localisation ou le bouton ITU, puis expliquer comment PostGIS renvoie les suggestions les plus proches.</a:t>
            </a:r>
            <a:endParaRPr b="0" lang="fr-FR" sz="2000" spc="-1" strike="noStrike">
              <a:solidFill>
                <a:srgbClr val="000000"/>
              </a:solidFill>
              <a:latin typeface="Arial"/>
            </a:endParaRPr>
          </a:p>
        </p:txBody>
      </p:sp>
      <p:sp>
        <p:nvSpPr>
          <p:cNvPr id="18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6A236C8-10B6-40B6-8A3B-294F292CD32F}"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6040" cy="308592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Conclusion : le projet atteint ses objectifs académiques. Les limites sont assumées : données pédagogiques, bus simulés, pas encore de GPS réel. Mais la structure technique est solide et peut évoluer vers un outil utile aux usagers avec des relevés terrain et un suivi temps réel.</a:t>
            </a:r>
            <a:endParaRPr b="0" lang="fr-FR" sz="2000" spc="-1" strike="noStrike">
              <a:solidFill>
                <a:srgbClr val="000000"/>
              </a:solidFill>
              <a:latin typeface="Arial"/>
            </a:endParaRPr>
          </a:p>
        </p:txBody>
      </p:sp>
      <p:sp>
        <p:nvSpPr>
          <p:cNvPr id="18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E07B441-03E4-4DEF-96E0-C9667150806D}"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fr-FR" sz="1800" spc="-1" strike="noStrike">
                <a:solidFill>
                  <a:schemeClr val="dk1"/>
                </a:solidFill>
                <a:latin typeface="Aptos"/>
              </a:rPr>
              <a:t>Cliquez pour éditer </a:t>
            </a:r>
            <a:r>
              <a:rPr b="0" lang="fr-FR" sz="1800" spc="-1" strike="noStrike">
                <a:solidFill>
                  <a:schemeClr val="dk1"/>
                </a:solidFill>
                <a:latin typeface="Aptos"/>
              </a:rPr>
              <a:t>le format du texte-</a:t>
            </a:r>
            <a:r>
              <a:rPr b="0" lang="fr-FR" sz="1800" spc="-1" strike="noStrike">
                <a:solidFill>
                  <a:schemeClr val="dk1"/>
                </a:solidFill>
                <a:latin typeface="Aptos"/>
              </a:rPr>
              <a:t>titre</a:t>
            </a:r>
            <a:endParaRPr b="0" lang="fr-FR" sz="1800" spc="-1" strike="noStrike">
              <a:solidFill>
                <a:schemeClr val="dk1"/>
              </a:solidFill>
              <a:latin typeface="Aptos"/>
            </a:endParaRPr>
          </a:p>
        </p:txBody>
      </p:sp>
      <p:sp>
        <p:nvSpPr>
          <p:cNvPr id="1" name="PlaceHolder 2"/>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chemeClr val="dk1"/>
                </a:solidFill>
                <a:latin typeface="Aptos"/>
              </a:rPr>
              <a:t>Cliquez pour éditer le format du plan de texte</a:t>
            </a:r>
            <a:endParaRPr b="0" lang="fr-FR" sz="3200" spc="-1" strike="noStrike">
              <a:solidFill>
                <a:schemeClr val="dk1"/>
              </a:solidFill>
              <a:latin typeface="Aptos"/>
            </a:endParaRPr>
          </a:p>
          <a:p>
            <a:pPr lvl="1" marL="864000" indent="-324000">
              <a:spcBef>
                <a:spcPts val="1134"/>
              </a:spcBef>
              <a:buClr>
                <a:srgbClr val="000000"/>
              </a:buClr>
              <a:buSzPct val="75000"/>
              <a:buFont typeface="Symbol" charset="2"/>
              <a:buChar char=""/>
            </a:pPr>
            <a:r>
              <a:rPr b="0" lang="fr-FR" sz="2400" spc="-1" strike="noStrike">
                <a:solidFill>
                  <a:schemeClr val="dk1"/>
                </a:solidFill>
                <a:latin typeface="Aptos"/>
              </a:rPr>
              <a:t>Second niveau de plan</a:t>
            </a:r>
            <a:endParaRPr b="0" lang="fr-FR" sz="2400" spc="-1" strike="noStrike">
              <a:solidFill>
                <a:schemeClr val="dk1"/>
              </a:solidFill>
              <a:latin typeface="Aptos"/>
            </a:endParaRPr>
          </a:p>
          <a:p>
            <a:pPr lvl="2" marL="1296000" indent="-288000">
              <a:spcBef>
                <a:spcPts val="850"/>
              </a:spcBef>
              <a:buClr>
                <a:srgbClr val="000000"/>
              </a:buClr>
              <a:buSzPct val="45000"/>
              <a:buFont typeface="Wingdings" charset="2"/>
              <a:buChar char=""/>
            </a:pPr>
            <a:r>
              <a:rPr b="0" lang="fr-FR" sz="2000" spc="-1" strike="noStrike">
                <a:solidFill>
                  <a:schemeClr val="dk1"/>
                </a:solidFill>
                <a:latin typeface="Aptos"/>
              </a:rPr>
              <a:t>Troisième niveau de plan</a:t>
            </a:r>
            <a:endParaRPr b="0" lang="fr-FR" sz="2000" spc="-1" strike="noStrike">
              <a:solidFill>
                <a:schemeClr val="dk1"/>
              </a:solidFill>
              <a:latin typeface="Aptos"/>
            </a:endParaRPr>
          </a:p>
          <a:p>
            <a:pPr lvl="3" marL="1728000" indent="-216000">
              <a:spcBef>
                <a:spcPts val="567"/>
              </a:spcBef>
              <a:buClr>
                <a:srgbClr val="000000"/>
              </a:buClr>
              <a:buSzPct val="75000"/>
              <a:buFont typeface="Symbol" charset="2"/>
              <a:buChar char=""/>
            </a:pPr>
            <a:r>
              <a:rPr b="0" lang="fr-FR" sz="2000" spc="-1" strike="noStrike">
                <a:solidFill>
                  <a:schemeClr val="dk1"/>
                </a:solidFill>
                <a:latin typeface="Aptos"/>
              </a:rPr>
              <a:t>Quatrième niveau de plan</a:t>
            </a:r>
            <a:endParaRPr b="0" lang="fr-FR" sz="2000" spc="-1" strike="noStrike">
              <a:solidFill>
                <a:schemeClr val="dk1"/>
              </a:solidFill>
              <a:latin typeface="Aptos"/>
            </a:endParaRPr>
          </a:p>
          <a:p>
            <a:pPr lvl="4" marL="2160000" indent="-216000">
              <a:spcBef>
                <a:spcPts val="283"/>
              </a:spcBef>
              <a:buClr>
                <a:srgbClr val="000000"/>
              </a:buClr>
              <a:buSzPct val="45000"/>
              <a:buFont typeface="Wingdings" charset="2"/>
              <a:buChar char=""/>
            </a:pPr>
            <a:r>
              <a:rPr b="0" lang="fr-FR" sz="2000" spc="-1" strike="noStrike">
                <a:solidFill>
                  <a:schemeClr val="dk1"/>
                </a:solidFill>
                <a:latin typeface="Aptos"/>
              </a:rPr>
              <a:t>Cinquième niveau de plan</a:t>
            </a:r>
            <a:endParaRPr b="0" lang="fr-FR" sz="2000" spc="-1" strike="noStrike">
              <a:solidFill>
                <a:schemeClr val="dk1"/>
              </a:solidFill>
              <a:latin typeface="Aptos"/>
            </a:endParaRPr>
          </a:p>
          <a:p>
            <a:pPr lvl="5" marL="2592000" indent="-216000">
              <a:spcBef>
                <a:spcPts val="283"/>
              </a:spcBef>
              <a:buClr>
                <a:srgbClr val="000000"/>
              </a:buClr>
              <a:buSzPct val="45000"/>
              <a:buFont typeface="Wingdings" charset="2"/>
              <a:buChar char=""/>
            </a:pPr>
            <a:r>
              <a:rPr b="0" lang="fr-FR" sz="2000" spc="-1" strike="noStrike">
                <a:solidFill>
                  <a:schemeClr val="dk1"/>
                </a:solidFill>
                <a:latin typeface="Aptos"/>
              </a:rPr>
              <a:t>Sixième niveau de plan</a:t>
            </a:r>
            <a:endParaRPr b="0" lang="fr-FR" sz="2000" spc="-1" strike="noStrike">
              <a:solidFill>
                <a:schemeClr val="dk1"/>
              </a:solidFill>
              <a:latin typeface="Aptos"/>
            </a:endParaRPr>
          </a:p>
          <a:p>
            <a:pPr lvl="6" marL="3024000" indent="-216000">
              <a:spcBef>
                <a:spcPts val="283"/>
              </a:spcBef>
              <a:buClr>
                <a:srgbClr val="000000"/>
              </a:buClr>
              <a:buSzPct val="45000"/>
              <a:buFont typeface="Wingdings" charset="2"/>
              <a:buChar char=""/>
            </a:pPr>
            <a:r>
              <a:rPr b="0" lang="fr-FR" sz="2000" spc="-1" strike="noStrike">
                <a:solidFill>
                  <a:schemeClr val="dk1"/>
                </a:solidFill>
                <a:latin typeface="Aptos"/>
              </a:rPr>
              <a:t>Septième niveau de plan</a:t>
            </a:r>
            <a:endParaRPr b="0" lang="fr-FR"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8" name="Text 0"/>
          <p:cNvSpPr/>
          <p:nvPr/>
        </p:nvSpPr>
        <p:spPr>
          <a:xfrm>
            <a:off x="658440" y="493920"/>
            <a:ext cx="41144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93c5fd"/>
                </a:solidFill>
                <a:latin typeface="Aptos"/>
              </a:rPr>
              <a:t>PROJET SIG — WEBMAPPING</a:t>
            </a:r>
            <a:endParaRPr b="0" lang="fr-FR" sz="1300" spc="-1" strike="noStrike">
              <a:solidFill>
                <a:srgbClr val="ffffff"/>
              </a:solidFill>
              <a:latin typeface="Arial"/>
            </a:endParaRPr>
          </a:p>
        </p:txBody>
      </p:sp>
      <p:sp>
        <p:nvSpPr>
          <p:cNvPr id="9" name="Text 1"/>
          <p:cNvSpPr/>
          <p:nvPr/>
        </p:nvSpPr>
        <p:spPr>
          <a:xfrm>
            <a:off x="621720" y="987480"/>
            <a:ext cx="5668920" cy="1645560"/>
          </a:xfrm>
          <a:prstGeom prst="rect">
            <a:avLst/>
          </a:prstGeom>
          <a:noFill/>
          <a:ln w="0">
            <a:noFill/>
          </a:ln>
        </p:spPr>
        <p:style>
          <a:lnRef idx="0"/>
          <a:fillRef idx="0"/>
          <a:effectRef idx="0"/>
          <a:fontRef idx="minor"/>
        </p:style>
        <p:txBody>
          <a:bodyPr lIns="0" rIns="0" tIns="0" bIns="0" anchor="ctr">
            <a:normAutofit fontScale="75000" lnSpcReduction="10000"/>
          </a:bodyPr>
          <a:p>
            <a:pPr defTabSz="914400">
              <a:lnSpc>
                <a:spcPct val="100000"/>
              </a:lnSpc>
              <a:tabLst>
                <a:tab algn="l" pos="0"/>
              </a:tabLst>
            </a:pPr>
            <a:r>
              <a:rPr b="1" lang="en-US" sz="3800" spc="-1" strike="noStrike">
                <a:solidFill>
                  <a:srgbClr val="ffffff"/>
                </a:solidFill>
                <a:latin typeface="Aptos Display"/>
                <a:ea typeface="Aptos Display"/>
              </a:rPr>
              <a:t>Cartographie et analyse spatiale</a:t>
            </a:r>
            <a:endParaRPr b="0" lang="fr-FR" sz="3800" spc="-1" strike="noStrike">
              <a:solidFill>
                <a:srgbClr val="ffffff"/>
              </a:solidFill>
              <a:latin typeface="Arial"/>
            </a:endParaRPr>
          </a:p>
          <a:p>
            <a:pPr defTabSz="914400">
              <a:lnSpc>
                <a:spcPct val="100000"/>
              </a:lnSpc>
              <a:tabLst>
                <a:tab algn="l" pos="0"/>
              </a:tabLst>
            </a:pPr>
            <a:r>
              <a:rPr b="1" lang="en-US" sz="3800" spc="-1" strike="noStrike">
                <a:solidFill>
                  <a:srgbClr val="ffffff"/>
                </a:solidFill>
                <a:latin typeface="Aptos Display"/>
                <a:ea typeface="Aptos Display"/>
              </a:rPr>
              <a:t>du réseau de bus urbain</a:t>
            </a:r>
            <a:endParaRPr b="0" lang="fr-FR" sz="3800" spc="-1" strike="noStrike">
              <a:solidFill>
                <a:srgbClr val="ffffff"/>
              </a:solidFill>
              <a:latin typeface="Arial"/>
            </a:endParaRPr>
          </a:p>
          <a:p>
            <a:pPr defTabSz="914400">
              <a:lnSpc>
                <a:spcPct val="100000"/>
              </a:lnSpc>
              <a:tabLst>
                <a:tab algn="l" pos="0"/>
              </a:tabLst>
            </a:pPr>
            <a:r>
              <a:rPr b="1" lang="en-US" sz="3800" spc="-1" strike="noStrike">
                <a:solidFill>
                  <a:srgbClr val="ffffff"/>
                </a:solidFill>
                <a:latin typeface="Aptos Display"/>
                <a:ea typeface="Aptos Display"/>
              </a:rPr>
              <a:t>d’Antananarivo</a:t>
            </a:r>
            <a:endParaRPr b="0" lang="fr-FR" sz="3800" spc="-1" strike="noStrike">
              <a:solidFill>
                <a:srgbClr val="ffffff"/>
              </a:solidFill>
              <a:latin typeface="Arial"/>
            </a:endParaRPr>
          </a:p>
        </p:txBody>
      </p:sp>
      <p:sp>
        <p:nvSpPr>
          <p:cNvPr id="10" name="Text 2"/>
          <p:cNvSpPr/>
          <p:nvPr/>
        </p:nvSpPr>
        <p:spPr>
          <a:xfrm>
            <a:off x="658440" y="2779920"/>
            <a:ext cx="42058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cbd5e1"/>
                </a:solidFill>
                <a:latin typeface="Aptos"/>
              </a:rPr>
              <a:t>Lignes 146 · 147 · 178 · 187</a:t>
            </a:r>
            <a:endParaRPr b="0" lang="fr-FR" sz="1800" spc="-1" strike="noStrike">
              <a:solidFill>
                <a:srgbClr val="ffffff"/>
              </a:solidFill>
              <a:latin typeface="Arial"/>
            </a:endParaRPr>
          </a:p>
        </p:txBody>
      </p:sp>
      <p:sp>
        <p:nvSpPr>
          <p:cNvPr id="11" name="Shape 3"/>
          <p:cNvSpPr/>
          <p:nvPr/>
        </p:nvSpPr>
        <p:spPr>
          <a:xfrm>
            <a:off x="658440" y="3310200"/>
            <a:ext cx="676440" cy="383760"/>
          </a:xfrm>
          <a:prstGeom prst="roundRect">
            <a:avLst>
              <a:gd name="adj" fmla="val 19048"/>
            </a:avLst>
          </a:prstGeom>
          <a:solidFill>
            <a:srgbClr val="f97316"/>
          </a:solidFill>
          <a:ln w="12700">
            <a:solidFill>
              <a:srgbClr val="f97316">
                <a:alpha val="0"/>
              </a:srgbClr>
            </a:solidFill>
            <a:round/>
          </a:ln>
          <a:effectLst>
            <a:outerShdw algn="bl" blurRad="12600" dir="2700000" dist="6109" kx="0" ky="0" rotWithShape="0" sx="100000" sy="100000">
              <a:srgbClr val="000000">
                <a:alpha val="9000"/>
              </a:srgbClr>
            </a:outerShdw>
          </a:effectLst>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 name="Text 4"/>
          <p:cNvSpPr/>
          <p:nvPr/>
        </p:nvSpPr>
        <p:spPr>
          <a:xfrm>
            <a:off x="658440" y="3364920"/>
            <a:ext cx="6764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146</a:t>
            </a:r>
            <a:endParaRPr b="0" lang="fr-FR" sz="1100" spc="-1" strike="noStrike">
              <a:solidFill>
                <a:srgbClr val="ffffff"/>
              </a:solidFill>
              <a:latin typeface="Arial"/>
            </a:endParaRPr>
          </a:p>
        </p:txBody>
      </p:sp>
      <p:sp>
        <p:nvSpPr>
          <p:cNvPr id="13" name="Shape 5"/>
          <p:cNvSpPr/>
          <p:nvPr/>
        </p:nvSpPr>
        <p:spPr>
          <a:xfrm>
            <a:off x="1481400" y="3310200"/>
            <a:ext cx="676440" cy="383760"/>
          </a:xfrm>
          <a:prstGeom prst="roundRect">
            <a:avLst>
              <a:gd name="adj" fmla="val 19048"/>
            </a:avLst>
          </a:prstGeom>
          <a:solidFill>
            <a:srgbClr val="2563eb"/>
          </a:solidFill>
          <a:ln w="12700">
            <a:solidFill>
              <a:srgbClr val="2563eb">
                <a:alpha val="0"/>
              </a:srgbClr>
            </a:solidFill>
            <a:round/>
          </a:ln>
          <a:effectLst>
            <a:outerShdw algn="bl" blurRad="12600" dir="2700000" dist="6109" kx="0" ky="0" rotWithShape="0" sx="100000" sy="100000">
              <a:srgbClr val="000000">
                <a:alpha val="9000"/>
              </a:srgbClr>
            </a:outerShdw>
          </a:effectLst>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4" name="Text 6"/>
          <p:cNvSpPr/>
          <p:nvPr/>
        </p:nvSpPr>
        <p:spPr>
          <a:xfrm>
            <a:off x="1481400" y="3364920"/>
            <a:ext cx="6764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147</a:t>
            </a:r>
            <a:endParaRPr b="0" lang="fr-FR" sz="1100" spc="-1" strike="noStrike">
              <a:solidFill>
                <a:srgbClr val="ffffff"/>
              </a:solidFill>
              <a:latin typeface="Arial"/>
            </a:endParaRPr>
          </a:p>
        </p:txBody>
      </p:sp>
      <p:sp>
        <p:nvSpPr>
          <p:cNvPr id="15" name="Shape 7"/>
          <p:cNvSpPr/>
          <p:nvPr/>
        </p:nvSpPr>
        <p:spPr>
          <a:xfrm>
            <a:off x="2304360" y="3310200"/>
            <a:ext cx="676440" cy="383760"/>
          </a:xfrm>
          <a:prstGeom prst="roundRect">
            <a:avLst>
              <a:gd name="adj" fmla="val 19048"/>
            </a:avLst>
          </a:prstGeom>
          <a:solidFill>
            <a:srgbClr val="16a34a"/>
          </a:solidFill>
          <a:ln w="12700">
            <a:solidFill>
              <a:srgbClr val="16a34a">
                <a:alpha val="0"/>
              </a:srgbClr>
            </a:solidFill>
            <a:round/>
          </a:ln>
          <a:effectLst>
            <a:outerShdw algn="bl" blurRad="12600" dir="2700000" dist="6109" kx="0" ky="0" rotWithShape="0" sx="100000" sy="100000">
              <a:srgbClr val="000000">
                <a:alpha val="9000"/>
              </a:srgbClr>
            </a:outerShdw>
          </a:effectLst>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6" name="Text 8"/>
          <p:cNvSpPr/>
          <p:nvPr/>
        </p:nvSpPr>
        <p:spPr>
          <a:xfrm>
            <a:off x="2304360" y="3364920"/>
            <a:ext cx="6764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178</a:t>
            </a:r>
            <a:endParaRPr b="0" lang="fr-FR" sz="1100" spc="-1" strike="noStrike">
              <a:solidFill>
                <a:srgbClr val="ffffff"/>
              </a:solidFill>
              <a:latin typeface="Arial"/>
            </a:endParaRPr>
          </a:p>
        </p:txBody>
      </p:sp>
      <p:sp>
        <p:nvSpPr>
          <p:cNvPr id="17" name="Shape 9"/>
          <p:cNvSpPr/>
          <p:nvPr/>
        </p:nvSpPr>
        <p:spPr>
          <a:xfrm>
            <a:off x="3127320" y="3310200"/>
            <a:ext cx="676440" cy="383760"/>
          </a:xfrm>
          <a:prstGeom prst="roundRect">
            <a:avLst>
              <a:gd name="adj" fmla="val 19048"/>
            </a:avLst>
          </a:prstGeom>
          <a:solidFill>
            <a:srgbClr val="ef4444"/>
          </a:solidFill>
          <a:ln w="12700">
            <a:solidFill>
              <a:srgbClr val="ef4444">
                <a:alpha val="0"/>
              </a:srgbClr>
            </a:solidFill>
            <a:round/>
          </a:ln>
          <a:effectLst>
            <a:outerShdw algn="bl" blurRad="12600" dir="2700000" dist="6109" kx="0" ky="0" rotWithShape="0" sx="100000" sy="100000">
              <a:srgbClr val="000000">
                <a:alpha val="9000"/>
              </a:srgbClr>
            </a:outerShdw>
          </a:effectLst>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8" name="Text 10"/>
          <p:cNvSpPr/>
          <p:nvPr/>
        </p:nvSpPr>
        <p:spPr>
          <a:xfrm>
            <a:off x="3127320" y="3364920"/>
            <a:ext cx="67644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187</a:t>
            </a:r>
            <a:endParaRPr b="0" lang="fr-FR" sz="1100" spc="-1" strike="noStrike">
              <a:solidFill>
                <a:srgbClr val="ffffff"/>
              </a:solidFill>
              <a:latin typeface="Arial"/>
            </a:endParaRPr>
          </a:p>
        </p:txBody>
      </p:sp>
      <p:sp>
        <p:nvSpPr>
          <p:cNvPr id="19" name="Text 11"/>
          <p:cNvSpPr/>
          <p:nvPr/>
        </p:nvSpPr>
        <p:spPr>
          <a:xfrm>
            <a:off x="676800" y="3959280"/>
            <a:ext cx="4845960" cy="246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e2e8f0"/>
                </a:solidFill>
                <a:latin typeface="Aptos"/>
              </a:rPr>
              <a:t>PostgreSQL / PostGIS  •  Spring Boot  •  Leaflet.js</a:t>
            </a:r>
            <a:endParaRPr b="0" lang="fr-FR" sz="1400" spc="-1" strike="noStrike">
              <a:solidFill>
                <a:srgbClr val="ffffff"/>
              </a:solidFill>
              <a:latin typeface="Arial"/>
            </a:endParaRPr>
          </a:p>
        </p:txBody>
      </p:sp>
      <p:sp>
        <p:nvSpPr>
          <p:cNvPr id="20" name="Shape 12"/>
          <p:cNvSpPr/>
          <p:nvPr/>
        </p:nvSpPr>
        <p:spPr>
          <a:xfrm>
            <a:off x="6565320" y="713160"/>
            <a:ext cx="4708800" cy="5230080"/>
          </a:xfrm>
          <a:prstGeom prst="roundRect">
            <a:avLst>
              <a:gd name="adj" fmla="val 2330"/>
            </a:avLst>
          </a:prstGeom>
          <a:solidFill>
            <a:srgbClr val="0f172a"/>
          </a:solidFill>
          <a:ln w="12700">
            <a:solidFill>
              <a:srgbClr val="334155"/>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21" name="Text 13"/>
          <p:cNvSpPr/>
          <p:nvPr/>
        </p:nvSpPr>
        <p:spPr>
          <a:xfrm>
            <a:off x="6876360" y="987480"/>
            <a:ext cx="393156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ffffff"/>
                </a:solidFill>
                <a:latin typeface="Aptos"/>
              </a:rPr>
              <a:t>Membres du groupe</a:t>
            </a:r>
            <a:endParaRPr b="0" lang="fr-FR" sz="1800" spc="-1" strike="noStrike">
              <a:solidFill>
                <a:srgbClr val="ffffff"/>
              </a:solidFill>
              <a:latin typeface="Arial"/>
            </a:endParaRPr>
          </a:p>
        </p:txBody>
      </p:sp>
      <p:sp>
        <p:nvSpPr>
          <p:cNvPr id="22" name="Shape 14"/>
          <p:cNvSpPr/>
          <p:nvPr/>
        </p:nvSpPr>
        <p:spPr>
          <a:xfrm>
            <a:off x="6876360" y="1435680"/>
            <a:ext cx="959760" cy="319680"/>
          </a:xfrm>
          <a:prstGeom prst="roundRect">
            <a:avLst>
              <a:gd name="adj" fmla="val 17143"/>
            </a:avLst>
          </a:prstGeom>
          <a:solidFill>
            <a:srgbClr val="1e293b"/>
          </a:solidFill>
          <a:ln w="12700">
            <a:solidFill>
              <a:srgbClr val="1e293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23" name="Text 15"/>
          <p:cNvSpPr/>
          <p:nvPr/>
        </p:nvSpPr>
        <p:spPr>
          <a:xfrm>
            <a:off x="6931080" y="1499760"/>
            <a:ext cx="840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80" spc="-1" strike="noStrike">
                <a:solidFill>
                  <a:srgbClr val="93c5fd"/>
                </a:solidFill>
                <a:latin typeface="Aptos"/>
              </a:rPr>
              <a:t>ETU003967</a:t>
            </a:r>
            <a:endParaRPr b="0" lang="fr-FR" sz="780" spc="-1" strike="noStrike">
              <a:solidFill>
                <a:srgbClr val="ffffff"/>
              </a:solidFill>
              <a:latin typeface="Arial"/>
            </a:endParaRPr>
          </a:p>
        </p:txBody>
      </p:sp>
      <p:sp>
        <p:nvSpPr>
          <p:cNvPr id="24" name="Text 16"/>
          <p:cNvSpPr/>
          <p:nvPr/>
        </p:nvSpPr>
        <p:spPr>
          <a:xfrm>
            <a:off x="8028360" y="1463040"/>
            <a:ext cx="29988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rPr>
              <a:t>RAZAFIMANTSOA Rojovola Salomon</a:t>
            </a:r>
            <a:endParaRPr b="0" lang="fr-FR" sz="1150" spc="-1" strike="noStrike">
              <a:solidFill>
                <a:srgbClr val="ffffff"/>
              </a:solidFill>
              <a:latin typeface="Arial"/>
            </a:endParaRPr>
          </a:p>
        </p:txBody>
      </p:sp>
      <p:sp>
        <p:nvSpPr>
          <p:cNvPr id="25" name="Shape 17"/>
          <p:cNvSpPr/>
          <p:nvPr/>
        </p:nvSpPr>
        <p:spPr>
          <a:xfrm>
            <a:off x="6876360" y="2094120"/>
            <a:ext cx="959760" cy="319680"/>
          </a:xfrm>
          <a:prstGeom prst="roundRect">
            <a:avLst>
              <a:gd name="adj" fmla="val 17143"/>
            </a:avLst>
          </a:prstGeom>
          <a:solidFill>
            <a:srgbClr val="1e293b"/>
          </a:solidFill>
          <a:ln w="12700">
            <a:solidFill>
              <a:srgbClr val="1e293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26" name="Text 18"/>
          <p:cNvSpPr/>
          <p:nvPr/>
        </p:nvSpPr>
        <p:spPr>
          <a:xfrm>
            <a:off x="6931080" y="2157840"/>
            <a:ext cx="840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80" spc="-1" strike="noStrike">
                <a:solidFill>
                  <a:srgbClr val="93c5fd"/>
                </a:solidFill>
                <a:latin typeface="Aptos"/>
              </a:rPr>
              <a:t>ETU003970</a:t>
            </a:r>
            <a:endParaRPr b="0" lang="fr-FR" sz="780" spc="-1" strike="noStrike">
              <a:solidFill>
                <a:srgbClr val="ffffff"/>
              </a:solidFill>
              <a:latin typeface="Arial"/>
            </a:endParaRPr>
          </a:p>
        </p:txBody>
      </p:sp>
      <p:sp>
        <p:nvSpPr>
          <p:cNvPr id="27" name="Text 19"/>
          <p:cNvSpPr/>
          <p:nvPr/>
        </p:nvSpPr>
        <p:spPr>
          <a:xfrm>
            <a:off x="8028360" y="2121480"/>
            <a:ext cx="2998800" cy="32868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0" lang="en-US" sz="1150" spc="-1" strike="noStrike">
                <a:solidFill>
                  <a:srgbClr val="e5e7eb"/>
                </a:solidFill>
                <a:latin typeface="Aptos"/>
              </a:rPr>
              <a:t>RAKOTONDRAMANANA Andriantsoa Iantran'ny Avo</a:t>
            </a:r>
            <a:endParaRPr b="0" lang="fr-FR" sz="1150" spc="-1" strike="noStrike">
              <a:solidFill>
                <a:srgbClr val="ffffff"/>
              </a:solidFill>
              <a:latin typeface="Arial"/>
            </a:endParaRPr>
          </a:p>
        </p:txBody>
      </p:sp>
      <p:sp>
        <p:nvSpPr>
          <p:cNvPr id="28" name="Shape 20"/>
          <p:cNvSpPr/>
          <p:nvPr/>
        </p:nvSpPr>
        <p:spPr>
          <a:xfrm>
            <a:off x="6876360" y="2752200"/>
            <a:ext cx="959760" cy="319680"/>
          </a:xfrm>
          <a:prstGeom prst="roundRect">
            <a:avLst>
              <a:gd name="adj" fmla="val 17143"/>
            </a:avLst>
          </a:prstGeom>
          <a:solidFill>
            <a:srgbClr val="1e293b"/>
          </a:solidFill>
          <a:ln w="12700">
            <a:solidFill>
              <a:srgbClr val="1e293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29" name="Text 21"/>
          <p:cNvSpPr/>
          <p:nvPr/>
        </p:nvSpPr>
        <p:spPr>
          <a:xfrm>
            <a:off x="6931080" y="2816280"/>
            <a:ext cx="840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80" spc="-1" strike="noStrike">
                <a:solidFill>
                  <a:srgbClr val="93c5fd"/>
                </a:solidFill>
                <a:latin typeface="Aptos"/>
              </a:rPr>
              <a:t>ETU003895</a:t>
            </a:r>
            <a:endParaRPr b="0" lang="fr-FR" sz="780" spc="-1" strike="noStrike">
              <a:solidFill>
                <a:srgbClr val="ffffff"/>
              </a:solidFill>
              <a:latin typeface="Arial"/>
            </a:endParaRPr>
          </a:p>
        </p:txBody>
      </p:sp>
      <p:sp>
        <p:nvSpPr>
          <p:cNvPr id="30" name="Text 22"/>
          <p:cNvSpPr/>
          <p:nvPr/>
        </p:nvSpPr>
        <p:spPr>
          <a:xfrm>
            <a:off x="8028360" y="2779920"/>
            <a:ext cx="29988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rPr>
              <a:t>RANDRIAMANANJATO Nomenjanahary Elie</a:t>
            </a:r>
            <a:endParaRPr b="0" lang="fr-FR" sz="1150" spc="-1" strike="noStrike">
              <a:solidFill>
                <a:srgbClr val="ffffff"/>
              </a:solidFill>
              <a:latin typeface="Arial"/>
            </a:endParaRPr>
          </a:p>
        </p:txBody>
      </p:sp>
      <p:sp>
        <p:nvSpPr>
          <p:cNvPr id="31" name="Shape 23"/>
          <p:cNvSpPr/>
          <p:nvPr/>
        </p:nvSpPr>
        <p:spPr>
          <a:xfrm>
            <a:off x="6876360" y="3410640"/>
            <a:ext cx="959760" cy="319680"/>
          </a:xfrm>
          <a:prstGeom prst="roundRect">
            <a:avLst>
              <a:gd name="adj" fmla="val 17143"/>
            </a:avLst>
          </a:prstGeom>
          <a:solidFill>
            <a:srgbClr val="1e293b"/>
          </a:solidFill>
          <a:ln w="12700">
            <a:solidFill>
              <a:srgbClr val="1e293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32" name="Text 24"/>
          <p:cNvSpPr/>
          <p:nvPr/>
        </p:nvSpPr>
        <p:spPr>
          <a:xfrm>
            <a:off x="6931080" y="3474720"/>
            <a:ext cx="840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80" spc="-1" strike="noStrike">
                <a:solidFill>
                  <a:srgbClr val="93c5fd"/>
                </a:solidFill>
                <a:latin typeface="Aptos"/>
              </a:rPr>
              <a:t>ETU003959</a:t>
            </a:r>
            <a:endParaRPr b="0" lang="fr-FR" sz="780" spc="-1" strike="noStrike">
              <a:solidFill>
                <a:srgbClr val="ffffff"/>
              </a:solidFill>
              <a:latin typeface="Arial"/>
            </a:endParaRPr>
          </a:p>
        </p:txBody>
      </p:sp>
      <p:sp>
        <p:nvSpPr>
          <p:cNvPr id="33" name="Text 25"/>
          <p:cNvSpPr/>
          <p:nvPr/>
        </p:nvSpPr>
        <p:spPr>
          <a:xfrm>
            <a:off x="8028360" y="3438000"/>
            <a:ext cx="29988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rPr>
              <a:t>ANDRIANARY Jaona Manohisoa</a:t>
            </a:r>
            <a:endParaRPr b="0" lang="fr-FR" sz="1150" spc="-1" strike="noStrike">
              <a:solidFill>
                <a:srgbClr val="ffffff"/>
              </a:solidFill>
              <a:latin typeface="Arial"/>
            </a:endParaRPr>
          </a:p>
        </p:txBody>
      </p:sp>
      <p:sp>
        <p:nvSpPr>
          <p:cNvPr id="34" name="Shape 26"/>
          <p:cNvSpPr/>
          <p:nvPr/>
        </p:nvSpPr>
        <p:spPr>
          <a:xfrm>
            <a:off x="6876360" y="4069080"/>
            <a:ext cx="959760" cy="319680"/>
          </a:xfrm>
          <a:prstGeom prst="roundRect">
            <a:avLst>
              <a:gd name="adj" fmla="val 17143"/>
            </a:avLst>
          </a:prstGeom>
          <a:solidFill>
            <a:srgbClr val="1e293b"/>
          </a:solidFill>
          <a:ln w="12700">
            <a:solidFill>
              <a:srgbClr val="1e293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35" name="Text 27"/>
          <p:cNvSpPr/>
          <p:nvPr/>
        </p:nvSpPr>
        <p:spPr>
          <a:xfrm>
            <a:off x="6931080" y="4133160"/>
            <a:ext cx="840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80" spc="-1" strike="noStrike">
                <a:solidFill>
                  <a:srgbClr val="93c5fd"/>
                </a:solidFill>
                <a:latin typeface="Aptos"/>
              </a:rPr>
              <a:t>ETU004299</a:t>
            </a:r>
            <a:endParaRPr b="0" lang="fr-FR" sz="780" spc="-1" strike="noStrike">
              <a:solidFill>
                <a:srgbClr val="ffffff"/>
              </a:solidFill>
              <a:latin typeface="Arial"/>
            </a:endParaRPr>
          </a:p>
        </p:txBody>
      </p:sp>
      <p:sp>
        <p:nvSpPr>
          <p:cNvPr id="36" name="Text 28"/>
          <p:cNvSpPr/>
          <p:nvPr/>
        </p:nvSpPr>
        <p:spPr>
          <a:xfrm>
            <a:off x="8028360" y="4096440"/>
            <a:ext cx="29988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rPr>
              <a:t>HASIMANANA Feno Fitahiana</a:t>
            </a:r>
            <a:endParaRPr b="0" lang="fr-FR" sz="1150" spc="-1" strike="noStrike">
              <a:solidFill>
                <a:srgbClr val="ffffff"/>
              </a:solidFill>
              <a:latin typeface="Arial"/>
            </a:endParaRPr>
          </a:p>
        </p:txBody>
      </p:sp>
      <p:sp>
        <p:nvSpPr>
          <p:cNvPr id="37" name="Shape 29"/>
          <p:cNvSpPr/>
          <p:nvPr/>
        </p:nvSpPr>
        <p:spPr>
          <a:xfrm>
            <a:off x="6876360" y="4727520"/>
            <a:ext cx="959760" cy="319680"/>
          </a:xfrm>
          <a:prstGeom prst="roundRect">
            <a:avLst>
              <a:gd name="adj" fmla="val 17143"/>
            </a:avLst>
          </a:prstGeom>
          <a:solidFill>
            <a:srgbClr val="1e293b"/>
          </a:solidFill>
          <a:ln w="12700">
            <a:solidFill>
              <a:srgbClr val="1e293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38" name="Text 30"/>
          <p:cNvSpPr/>
          <p:nvPr/>
        </p:nvSpPr>
        <p:spPr>
          <a:xfrm>
            <a:off x="6931080" y="4791600"/>
            <a:ext cx="840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80" spc="-1" strike="noStrike">
                <a:solidFill>
                  <a:srgbClr val="93c5fd"/>
                </a:solidFill>
                <a:latin typeface="Aptos"/>
              </a:rPr>
              <a:t>ETU004196</a:t>
            </a:r>
            <a:endParaRPr b="0" lang="fr-FR" sz="780" spc="-1" strike="noStrike">
              <a:solidFill>
                <a:srgbClr val="ffffff"/>
              </a:solidFill>
              <a:latin typeface="Arial"/>
            </a:endParaRPr>
          </a:p>
        </p:txBody>
      </p:sp>
      <p:sp>
        <p:nvSpPr>
          <p:cNvPr id="39" name="Text 31"/>
          <p:cNvSpPr/>
          <p:nvPr/>
        </p:nvSpPr>
        <p:spPr>
          <a:xfrm>
            <a:off x="8028360" y="4754880"/>
            <a:ext cx="29988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pc="-1" strike="noStrike">
                <a:solidFill>
                  <a:srgbClr val="e5e7eb"/>
                </a:solidFill>
                <a:latin typeface="Aptos"/>
              </a:rPr>
              <a:t>TOJO NY NANDRASANA Joe Armando</a:t>
            </a:r>
            <a:endParaRPr b="0" lang="fr-FR" sz="1150" spc="-1" strike="noStrike">
              <a:solidFill>
                <a:srgbClr val="ffffff"/>
              </a:solidFill>
              <a:latin typeface="Arial"/>
            </a:endParaRPr>
          </a:p>
        </p:txBody>
      </p:sp>
      <p:sp>
        <p:nvSpPr>
          <p:cNvPr id="40" name="Text 32"/>
          <p:cNvSpPr/>
          <p:nvPr/>
        </p:nvSpPr>
        <p:spPr>
          <a:xfrm>
            <a:off x="6876360" y="5459040"/>
            <a:ext cx="3840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cbd5e1"/>
                </a:solidFill>
                <a:latin typeface="Aptos"/>
              </a:rPr>
              <a:t>Année universitaire 2025 - 2026</a:t>
            </a:r>
            <a:endParaRPr b="0" lang="fr-FR"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Shape 0"/>
          <p:cNvSpPr/>
          <p:nvPr/>
        </p:nvSpPr>
        <p:spPr>
          <a:xfrm>
            <a:off x="0" y="0"/>
            <a:ext cx="12191400" cy="6857640"/>
          </a:xfrm>
          <a:prstGeom prst="rect">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2" name="Shape 1"/>
          <p:cNvSpPr/>
          <p:nvPr/>
        </p:nvSpPr>
        <p:spPr>
          <a:xfrm>
            <a:off x="0" y="0"/>
            <a:ext cx="145800" cy="6857640"/>
          </a:xfrm>
          <a:prstGeom prst="rect">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43" name="Text 2"/>
          <p:cNvSpPr/>
          <p:nvPr/>
        </p:nvSpPr>
        <p:spPr>
          <a:xfrm>
            <a:off x="493920" y="311040"/>
            <a:ext cx="8595000" cy="438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0b1220"/>
                </a:solidFill>
                <a:latin typeface="Aptos Display"/>
                <a:ea typeface="Aptos Display"/>
              </a:rPr>
              <a:t>Contexte et problématique</a:t>
            </a:r>
            <a:endParaRPr b="0" lang="fr-FR" sz="2800" spc="-1" strike="noStrike">
              <a:solidFill>
                <a:srgbClr val="000000"/>
              </a:solidFill>
              <a:latin typeface="Arial"/>
            </a:endParaRPr>
          </a:p>
        </p:txBody>
      </p:sp>
      <p:sp>
        <p:nvSpPr>
          <p:cNvPr id="44" name="Text 3"/>
          <p:cNvSpPr/>
          <p:nvPr/>
        </p:nvSpPr>
        <p:spPr>
          <a:xfrm>
            <a:off x="511920" y="804600"/>
            <a:ext cx="9875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75569"/>
                </a:solidFill>
                <a:latin typeface="Aptos"/>
              </a:rPr>
              <a:t>Un réseau très utilisé, mais encore peu lisible numériquement</a:t>
            </a:r>
            <a:endParaRPr b="0" lang="fr-FR" sz="1250" spc="-1" strike="noStrike">
              <a:solidFill>
                <a:srgbClr val="000000"/>
              </a:solidFill>
              <a:latin typeface="Arial"/>
            </a:endParaRPr>
          </a:p>
        </p:txBody>
      </p:sp>
      <p:sp>
        <p:nvSpPr>
          <p:cNvPr id="45" name="Shape 4"/>
          <p:cNvSpPr/>
          <p:nvPr/>
        </p:nvSpPr>
        <p:spPr>
          <a:xfrm>
            <a:off x="621720" y="1298520"/>
            <a:ext cx="5211720" cy="4343040"/>
          </a:xfrm>
          <a:prstGeom prst="roundRect">
            <a:avLst>
              <a:gd name="adj" fmla="val 2526"/>
            </a:avLst>
          </a:prstGeom>
          <a:solidFill>
            <a:srgbClr val="f8fafc"/>
          </a:solidFill>
          <a:ln w="12700">
            <a:solidFill>
              <a:srgbClr val="dbeafe"/>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46" name="Text 5"/>
          <p:cNvSpPr/>
          <p:nvPr/>
        </p:nvSpPr>
        <p:spPr>
          <a:xfrm>
            <a:off x="914400" y="1591200"/>
            <a:ext cx="29257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000" spc="-1" strike="noStrike">
                <a:solidFill>
                  <a:srgbClr val="0b1220"/>
                </a:solidFill>
                <a:latin typeface="Aptos"/>
              </a:rPr>
              <a:t>Constat terrain</a:t>
            </a:r>
            <a:endParaRPr b="0" lang="fr-FR" sz="2000" spc="-1" strike="noStrike">
              <a:solidFill>
                <a:srgbClr val="000000"/>
              </a:solidFill>
              <a:latin typeface="Arial"/>
            </a:endParaRPr>
          </a:p>
        </p:txBody>
      </p:sp>
      <p:sp>
        <p:nvSpPr>
          <p:cNvPr id="47" name="Shape 6"/>
          <p:cNvSpPr/>
          <p:nvPr/>
        </p:nvSpPr>
        <p:spPr>
          <a:xfrm>
            <a:off x="932760" y="2148840"/>
            <a:ext cx="82080" cy="82080"/>
          </a:xfrm>
          <a:prstGeom prst="ellipse">
            <a:avLst/>
          </a:prstGeom>
          <a:solidFill>
            <a:srgbClr val="2563eb"/>
          </a:solidFill>
          <a:ln w="12700">
            <a:solidFill>
              <a:srgbClr val="2563eb">
                <a:alpha val="0"/>
              </a:srgbClr>
            </a:solidFill>
            <a:round/>
          </a:ln>
        </p:spPr>
        <p:style>
          <a:lnRef idx="0"/>
          <a:fillRef idx="0"/>
          <a:effectRef idx="0"/>
          <a:fontRef idx="minor"/>
        </p:style>
        <p:txBody>
          <a:bodyPr lIns="90000" rIns="90000" tIns="13320" bIns="13320" anchor="t">
            <a:noAutofit/>
          </a:bodyPr>
          <a:p>
            <a:endParaRPr b="0" lang="fr-FR" sz="1800" spc="-1" strike="noStrike">
              <a:solidFill>
                <a:srgbClr val="ffffff"/>
              </a:solidFill>
              <a:latin typeface="Arial"/>
            </a:endParaRPr>
          </a:p>
        </p:txBody>
      </p:sp>
      <p:sp>
        <p:nvSpPr>
          <p:cNvPr id="48" name="Text 7"/>
          <p:cNvSpPr/>
          <p:nvPr/>
        </p:nvSpPr>
        <p:spPr>
          <a:xfrm>
            <a:off x="1097280" y="2084760"/>
            <a:ext cx="4388760" cy="292320"/>
          </a:xfrm>
          <a:prstGeom prst="rect">
            <a:avLst/>
          </a:prstGeom>
          <a:noFill/>
          <a:ln w="0">
            <a:noFill/>
          </a:ln>
        </p:spPr>
        <p:style>
          <a:lnRef idx="0"/>
          <a:fillRef idx="0"/>
          <a:effectRef idx="0"/>
          <a:fontRef idx="minor"/>
        </p:style>
        <p:txBody>
          <a:bodyPr lIns="0" rIns="0" tIns="0" bIns="0" anchor="ctr">
            <a:normAutofit fontScale="81111" lnSpcReduction="20000"/>
          </a:bodyPr>
          <a:p>
            <a:pPr defTabSz="914400">
              <a:lnSpc>
                <a:spcPct val="100000"/>
              </a:lnSpc>
              <a:tabLst>
                <a:tab algn="l" pos="0"/>
              </a:tabLst>
            </a:pPr>
            <a:r>
              <a:rPr b="0" lang="en-US" sz="1500" spc="-1" strike="noStrike">
                <a:solidFill>
                  <a:srgbClr val="475569"/>
                </a:solidFill>
                <a:latin typeface="Aptos"/>
              </a:rPr>
              <a:t>Les minibus privés assurent l’essentiel de la mobilité quotidienne.</a:t>
            </a:r>
            <a:endParaRPr b="0" lang="fr-FR" sz="1500" spc="-1" strike="noStrike">
              <a:solidFill>
                <a:srgbClr val="000000"/>
              </a:solidFill>
              <a:latin typeface="Arial"/>
            </a:endParaRPr>
          </a:p>
        </p:txBody>
      </p:sp>
      <p:sp>
        <p:nvSpPr>
          <p:cNvPr id="49" name="Shape 8"/>
          <p:cNvSpPr/>
          <p:nvPr/>
        </p:nvSpPr>
        <p:spPr>
          <a:xfrm>
            <a:off x="932760" y="2743200"/>
            <a:ext cx="82080" cy="82080"/>
          </a:xfrm>
          <a:prstGeom prst="ellipse">
            <a:avLst/>
          </a:prstGeom>
          <a:solidFill>
            <a:srgbClr val="f97316"/>
          </a:solidFill>
          <a:ln w="12700">
            <a:solidFill>
              <a:srgbClr val="f97316">
                <a:alpha val="0"/>
              </a:srgbClr>
            </a:solidFill>
            <a:round/>
          </a:ln>
        </p:spPr>
        <p:style>
          <a:lnRef idx="0"/>
          <a:fillRef idx="0"/>
          <a:effectRef idx="0"/>
          <a:fontRef idx="minor"/>
        </p:style>
        <p:txBody>
          <a:bodyPr lIns="90000" rIns="90000" tIns="13320" bIns="13320" anchor="t">
            <a:noAutofit/>
          </a:bodyPr>
          <a:p>
            <a:endParaRPr b="0" lang="fr-FR" sz="1800" spc="-1" strike="noStrike">
              <a:solidFill>
                <a:srgbClr val="ffffff"/>
              </a:solidFill>
              <a:latin typeface="Arial"/>
            </a:endParaRPr>
          </a:p>
        </p:txBody>
      </p:sp>
      <p:sp>
        <p:nvSpPr>
          <p:cNvPr id="50" name="Text 9"/>
          <p:cNvSpPr/>
          <p:nvPr/>
        </p:nvSpPr>
        <p:spPr>
          <a:xfrm>
            <a:off x="1097280" y="2679120"/>
            <a:ext cx="4480200" cy="292320"/>
          </a:xfrm>
          <a:prstGeom prst="rect">
            <a:avLst/>
          </a:prstGeom>
          <a:noFill/>
          <a:ln w="0">
            <a:noFill/>
          </a:ln>
        </p:spPr>
        <p:style>
          <a:lnRef idx="0"/>
          <a:fillRef idx="0"/>
          <a:effectRef idx="0"/>
          <a:fontRef idx="minor"/>
        </p:style>
        <p:txBody>
          <a:bodyPr lIns="0" rIns="0" tIns="0" bIns="0" anchor="ctr">
            <a:normAutofit fontScale="68333"/>
          </a:bodyPr>
          <a:p>
            <a:pPr defTabSz="914400">
              <a:lnSpc>
                <a:spcPct val="100000"/>
              </a:lnSpc>
              <a:tabLst>
                <a:tab algn="l" pos="0"/>
              </a:tabLst>
            </a:pPr>
            <a:r>
              <a:rPr b="0" lang="en-US" sz="1500" spc="-1" strike="noStrike">
                <a:solidFill>
                  <a:srgbClr val="475569"/>
                </a:solidFill>
                <a:latin typeface="Aptos"/>
              </a:rPr>
              <a:t>Les informations circulent surtout oralement : arrêts, tracés, correspondances.</a:t>
            </a:r>
            <a:endParaRPr b="0" lang="fr-FR" sz="1500" spc="-1" strike="noStrike">
              <a:solidFill>
                <a:srgbClr val="000000"/>
              </a:solidFill>
              <a:latin typeface="Arial"/>
            </a:endParaRPr>
          </a:p>
        </p:txBody>
      </p:sp>
      <p:sp>
        <p:nvSpPr>
          <p:cNvPr id="51" name="Shape 10"/>
          <p:cNvSpPr/>
          <p:nvPr/>
        </p:nvSpPr>
        <p:spPr>
          <a:xfrm>
            <a:off x="932760" y="3337560"/>
            <a:ext cx="82080" cy="82080"/>
          </a:xfrm>
          <a:prstGeom prst="ellipse">
            <a:avLst/>
          </a:prstGeom>
          <a:solidFill>
            <a:srgbClr val="16a34a"/>
          </a:solidFill>
          <a:ln w="12700">
            <a:solidFill>
              <a:srgbClr val="16a34a">
                <a:alpha val="0"/>
              </a:srgbClr>
            </a:solidFill>
            <a:round/>
          </a:ln>
        </p:spPr>
        <p:style>
          <a:lnRef idx="0"/>
          <a:fillRef idx="0"/>
          <a:effectRef idx="0"/>
          <a:fontRef idx="minor"/>
        </p:style>
        <p:txBody>
          <a:bodyPr lIns="90000" rIns="90000" tIns="13320" bIns="13320" anchor="t">
            <a:noAutofit/>
          </a:bodyPr>
          <a:p>
            <a:endParaRPr b="0" lang="fr-FR" sz="1800" spc="-1" strike="noStrike">
              <a:solidFill>
                <a:srgbClr val="ffffff"/>
              </a:solidFill>
              <a:latin typeface="Arial"/>
            </a:endParaRPr>
          </a:p>
        </p:txBody>
      </p:sp>
      <p:sp>
        <p:nvSpPr>
          <p:cNvPr id="52" name="Text 11"/>
          <p:cNvSpPr/>
          <p:nvPr/>
        </p:nvSpPr>
        <p:spPr>
          <a:xfrm>
            <a:off x="1097280" y="3273480"/>
            <a:ext cx="4388760" cy="292320"/>
          </a:xfrm>
          <a:prstGeom prst="rect">
            <a:avLst/>
          </a:prstGeom>
          <a:noFill/>
          <a:ln w="0">
            <a:noFill/>
          </a:ln>
        </p:spPr>
        <p:style>
          <a:lnRef idx="0"/>
          <a:fillRef idx="0"/>
          <a:effectRef idx="0"/>
          <a:fontRef idx="minor"/>
        </p:style>
        <p:txBody>
          <a:bodyPr lIns="0" rIns="0" tIns="0" bIns="0" anchor="ctr">
            <a:normAutofit fontScale="68333"/>
          </a:bodyPr>
          <a:p>
            <a:pPr defTabSz="914400">
              <a:lnSpc>
                <a:spcPct val="100000"/>
              </a:lnSpc>
              <a:tabLst>
                <a:tab algn="l" pos="0"/>
              </a:tabLst>
            </a:pPr>
            <a:r>
              <a:rPr b="0" lang="en-US" sz="1500" spc="-1" strike="noStrike">
                <a:solidFill>
                  <a:srgbClr val="475569"/>
                </a:solidFill>
                <a:latin typeface="Aptos"/>
              </a:rPr>
              <a:t>Un nouvel usager ne sait pas rapidement quelle ligne prendre ni où attendre.</a:t>
            </a:r>
            <a:endParaRPr b="0" lang="fr-FR" sz="1500" spc="-1" strike="noStrike">
              <a:solidFill>
                <a:srgbClr val="000000"/>
              </a:solidFill>
              <a:latin typeface="Arial"/>
            </a:endParaRPr>
          </a:p>
        </p:txBody>
      </p:sp>
      <p:sp>
        <p:nvSpPr>
          <p:cNvPr id="53" name="Shape 12"/>
          <p:cNvSpPr/>
          <p:nvPr/>
        </p:nvSpPr>
        <p:spPr>
          <a:xfrm>
            <a:off x="932760" y="3931920"/>
            <a:ext cx="82080" cy="82080"/>
          </a:xfrm>
          <a:prstGeom prst="ellipse">
            <a:avLst/>
          </a:prstGeom>
          <a:solidFill>
            <a:srgbClr val="ef4444"/>
          </a:solidFill>
          <a:ln w="12700">
            <a:solidFill>
              <a:srgbClr val="ef4444">
                <a:alpha val="0"/>
              </a:srgbClr>
            </a:solidFill>
            <a:round/>
          </a:ln>
        </p:spPr>
        <p:style>
          <a:lnRef idx="0"/>
          <a:fillRef idx="0"/>
          <a:effectRef idx="0"/>
          <a:fontRef idx="minor"/>
        </p:style>
        <p:txBody>
          <a:bodyPr lIns="90000" rIns="90000" tIns="13320" bIns="13320" anchor="t">
            <a:noAutofit/>
          </a:bodyPr>
          <a:p>
            <a:endParaRPr b="0" lang="fr-FR" sz="1800" spc="-1" strike="noStrike">
              <a:solidFill>
                <a:srgbClr val="ffffff"/>
              </a:solidFill>
              <a:latin typeface="Arial"/>
            </a:endParaRPr>
          </a:p>
        </p:txBody>
      </p:sp>
      <p:sp>
        <p:nvSpPr>
          <p:cNvPr id="54" name="Text 13"/>
          <p:cNvSpPr/>
          <p:nvPr/>
        </p:nvSpPr>
        <p:spPr>
          <a:xfrm>
            <a:off x="1097280" y="3867840"/>
            <a:ext cx="4388760" cy="292320"/>
          </a:xfrm>
          <a:prstGeom prst="rect">
            <a:avLst/>
          </a:prstGeom>
          <a:noFill/>
          <a:ln w="0">
            <a:noFill/>
          </a:ln>
        </p:spPr>
        <p:style>
          <a:lnRef idx="0"/>
          <a:fillRef idx="0"/>
          <a:effectRef idx="0"/>
          <a:fontRef idx="minor"/>
        </p:style>
        <p:txBody>
          <a:bodyPr lIns="0" rIns="0" tIns="0" bIns="0" anchor="ctr">
            <a:normAutofit fontScale="75000" lnSpcReduction="10000"/>
          </a:bodyPr>
          <a:p>
            <a:pPr defTabSz="914400">
              <a:lnSpc>
                <a:spcPct val="100000"/>
              </a:lnSpc>
              <a:tabLst>
                <a:tab algn="l" pos="0"/>
              </a:tabLst>
            </a:pPr>
            <a:r>
              <a:rPr b="0" lang="en-US" sz="1500" spc="-1" strike="noStrike">
                <a:solidFill>
                  <a:srgbClr val="475569"/>
                </a:solidFill>
                <a:latin typeface="Aptos"/>
              </a:rPr>
              <a:t>Les données ne sont pas centralisées pour faciliter l’analyse spatiale.</a:t>
            </a:r>
            <a:endParaRPr b="0" lang="fr-FR" sz="1500" spc="-1" strike="noStrike">
              <a:solidFill>
                <a:srgbClr val="000000"/>
              </a:solidFill>
              <a:latin typeface="Arial"/>
            </a:endParaRPr>
          </a:p>
        </p:txBody>
      </p:sp>
      <p:sp>
        <p:nvSpPr>
          <p:cNvPr id="55" name="Shape 14"/>
          <p:cNvSpPr/>
          <p:nvPr/>
        </p:nvSpPr>
        <p:spPr>
          <a:xfrm>
            <a:off x="6400800" y="1298520"/>
            <a:ext cx="4891680" cy="4343040"/>
          </a:xfrm>
          <a:prstGeom prst="roundRect">
            <a:avLst>
              <a:gd name="adj" fmla="val 2526"/>
            </a:avLst>
          </a:prstGeom>
          <a:solidFill>
            <a:srgbClr val="0b1220"/>
          </a:solidFill>
          <a:ln w="12700">
            <a:solidFill>
              <a:srgbClr val="0b1220"/>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56" name="Text 15"/>
          <p:cNvSpPr/>
          <p:nvPr/>
        </p:nvSpPr>
        <p:spPr>
          <a:xfrm>
            <a:off x="6729840" y="1664280"/>
            <a:ext cx="384012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pc="-1" strike="noStrike">
                <a:solidFill>
                  <a:srgbClr val="93c5fd"/>
                </a:solidFill>
                <a:latin typeface="Aptos"/>
              </a:rPr>
              <a:t>Problématique</a:t>
            </a:r>
            <a:endParaRPr b="0" lang="fr-FR" sz="1800" spc="-1" strike="noStrike">
              <a:solidFill>
                <a:srgbClr val="000000"/>
              </a:solidFill>
              <a:latin typeface="Arial"/>
            </a:endParaRPr>
          </a:p>
        </p:txBody>
      </p:sp>
      <p:sp>
        <p:nvSpPr>
          <p:cNvPr id="57" name="Text 16"/>
          <p:cNvSpPr/>
          <p:nvPr/>
        </p:nvSpPr>
        <p:spPr>
          <a:xfrm>
            <a:off x="6729840" y="2176200"/>
            <a:ext cx="4297320" cy="1371240"/>
          </a:xfrm>
          <a:prstGeom prst="rect">
            <a:avLst/>
          </a:prstGeom>
          <a:noFill/>
          <a:ln w="0">
            <a:noFill/>
          </a:ln>
        </p:spPr>
        <p:style>
          <a:lnRef idx="0"/>
          <a:fillRef idx="0"/>
          <a:effectRef idx="0"/>
          <a:fontRef idx="minor"/>
        </p:style>
        <p:txBody>
          <a:bodyPr lIns="360" rIns="360" tIns="360" bIns="360" anchor="ctr">
            <a:normAutofit fontScale="81111"/>
          </a:bodyPr>
          <a:p>
            <a:pPr defTabSz="914400">
              <a:lnSpc>
                <a:spcPct val="100000"/>
              </a:lnSpc>
              <a:tabLst>
                <a:tab algn="l" pos="0"/>
              </a:tabLst>
            </a:pPr>
            <a:r>
              <a:rPr b="1" lang="en-US" sz="1900" spc="-1" strike="noStrike">
                <a:solidFill>
                  <a:srgbClr val="ffffff"/>
                </a:solidFill>
                <a:latin typeface="Aptos"/>
              </a:rPr>
              <a:t>Comment permettre à un usager de visualiser les lignes autour de lui, identifier l’arrêt ou le bus le plus proche, et estimer les distances depuis une interface cartographique accessible dans un navigateur ?</a:t>
            </a:r>
            <a:endParaRPr b="0" lang="fr-FR" sz="1900" spc="-1" strike="noStrike">
              <a:solidFill>
                <a:srgbClr val="000000"/>
              </a:solidFill>
              <a:latin typeface="Arial"/>
            </a:endParaRPr>
          </a:p>
        </p:txBody>
      </p:sp>
      <p:sp>
        <p:nvSpPr>
          <p:cNvPr id="58" name="Shape 17"/>
          <p:cNvSpPr/>
          <p:nvPr/>
        </p:nvSpPr>
        <p:spPr>
          <a:xfrm>
            <a:off x="6729840" y="3886200"/>
            <a:ext cx="4160520" cy="360"/>
          </a:xfrm>
          <a:prstGeom prst="line">
            <a:avLst/>
          </a:prstGeom>
          <a:ln w="15240">
            <a:solidFill>
              <a:srgbClr val="334155"/>
            </a:solidFill>
            <a:round/>
          </a:ln>
        </p:spPr>
        <p:style>
          <a:lnRef idx="0"/>
          <a:fillRef idx="0"/>
          <a:effectRef idx="0"/>
          <a:fontRef idx="minor"/>
        </p:style>
        <p:txBody>
          <a:bodyPr lIns="90000" rIns="90000" tIns="-44640" bIns="-44640" anchor="t" anchorCtr="1">
            <a:noAutofit/>
          </a:bodyPr>
          <a:p>
            <a:endParaRPr b="0" lang="fr-FR" sz="1800" spc="-1" strike="noStrike">
              <a:solidFill>
                <a:srgbClr val="000000"/>
              </a:solidFill>
              <a:latin typeface="Arial"/>
            </a:endParaRPr>
          </a:p>
        </p:txBody>
      </p:sp>
      <p:sp>
        <p:nvSpPr>
          <p:cNvPr id="59" name="Text 18"/>
          <p:cNvSpPr/>
          <p:nvPr/>
        </p:nvSpPr>
        <p:spPr>
          <a:xfrm>
            <a:off x="6729840" y="4160520"/>
            <a:ext cx="416016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bd5e1"/>
                </a:solidFill>
                <a:latin typeface="Aptos"/>
              </a:rPr>
              <a:t>La réponse doit être un vrai SIG : pas seulement une carte décorative, mais un système capable de mesurer, chercher et classer.</a:t>
            </a:r>
            <a:endParaRPr b="0" lang="fr-FR" sz="1500" spc="-1" strike="noStrike">
              <a:solidFill>
                <a:srgbClr val="000000"/>
              </a:solidFill>
              <a:latin typeface="Arial"/>
            </a:endParaRPr>
          </a:p>
        </p:txBody>
      </p:sp>
      <p:sp>
        <p:nvSpPr>
          <p:cNvPr id="60" name="Text 19"/>
          <p:cNvSpPr/>
          <p:nvPr/>
        </p:nvSpPr>
        <p:spPr>
          <a:xfrm>
            <a:off x="438840" y="6528960"/>
            <a:ext cx="93265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64748b"/>
                </a:solidFill>
                <a:latin typeface="Aptos"/>
                <a:ea typeface="Aptos"/>
              </a:rPr>
              <a:t>SIG Bus Antananarivo — Lignes 146 · 147 · 178 · 187</a:t>
            </a:r>
            <a:endParaRPr b="0" lang="fr-FR" sz="850" spc="-1" strike="noStrike">
              <a:solidFill>
                <a:srgbClr val="000000"/>
              </a:solidFill>
              <a:latin typeface="Arial"/>
            </a:endParaRPr>
          </a:p>
        </p:txBody>
      </p:sp>
      <p:sp>
        <p:nvSpPr>
          <p:cNvPr id="61" name="Text 20"/>
          <p:cNvSpPr/>
          <p:nvPr/>
        </p:nvSpPr>
        <p:spPr>
          <a:xfrm>
            <a:off x="11292840" y="6492240"/>
            <a:ext cx="438480" cy="255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900" spc="-1" strike="noStrike">
                <a:solidFill>
                  <a:srgbClr val="475569"/>
                </a:solidFill>
                <a:latin typeface="Aptos"/>
                <a:ea typeface="Aptos"/>
              </a:rPr>
              <a:t>2</a:t>
            </a:r>
            <a:endParaRPr b="0" lang="fr-F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Shape 0"/>
          <p:cNvSpPr/>
          <p:nvPr/>
        </p:nvSpPr>
        <p:spPr>
          <a:xfrm>
            <a:off x="0" y="0"/>
            <a:ext cx="12191400" cy="6857640"/>
          </a:xfrm>
          <a:prstGeom prst="rect">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63" name="Shape 1"/>
          <p:cNvSpPr/>
          <p:nvPr/>
        </p:nvSpPr>
        <p:spPr>
          <a:xfrm>
            <a:off x="0" y="0"/>
            <a:ext cx="145800" cy="6857640"/>
          </a:xfrm>
          <a:prstGeom prst="rect">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64" name="Text 2"/>
          <p:cNvSpPr/>
          <p:nvPr/>
        </p:nvSpPr>
        <p:spPr>
          <a:xfrm>
            <a:off x="493920" y="311040"/>
            <a:ext cx="8595000" cy="438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0b1220"/>
                </a:solidFill>
                <a:latin typeface="Aptos Display"/>
                <a:ea typeface="Aptos Display"/>
              </a:rPr>
              <a:t>Architecture technique</a:t>
            </a:r>
            <a:endParaRPr b="0" lang="fr-FR" sz="2800" spc="-1" strike="noStrike">
              <a:solidFill>
                <a:srgbClr val="000000"/>
              </a:solidFill>
              <a:latin typeface="Arial"/>
            </a:endParaRPr>
          </a:p>
        </p:txBody>
      </p:sp>
      <p:sp>
        <p:nvSpPr>
          <p:cNvPr id="65" name="Text 3"/>
          <p:cNvSpPr/>
          <p:nvPr/>
        </p:nvSpPr>
        <p:spPr>
          <a:xfrm>
            <a:off x="511920" y="804600"/>
            <a:ext cx="9875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75569"/>
                </a:solidFill>
                <a:latin typeface="Aptos"/>
              </a:rPr>
              <a:t>Séparation claire entre données, API et interface</a:t>
            </a:r>
            <a:endParaRPr b="0" lang="fr-FR" sz="1250" spc="-1" strike="noStrike">
              <a:solidFill>
                <a:srgbClr val="000000"/>
              </a:solidFill>
              <a:latin typeface="Arial"/>
            </a:endParaRPr>
          </a:p>
        </p:txBody>
      </p:sp>
      <p:sp>
        <p:nvSpPr>
          <p:cNvPr id="66" name="Shape 4"/>
          <p:cNvSpPr/>
          <p:nvPr/>
        </p:nvSpPr>
        <p:spPr>
          <a:xfrm>
            <a:off x="3337560" y="2907720"/>
            <a:ext cx="93240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pc="-1" strike="noStrike">
              <a:solidFill>
                <a:srgbClr val="000000"/>
              </a:solidFill>
              <a:latin typeface="Arial"/>
            </a:endParaRPr>
          </a:p>
        </p:txBody>
      </p:sp>
      <p:sp>
        <p:nvSpPr>
          <p:cNvPr id="67" name="Shape 5"/>
          <p:cNvSpPr/>
          <p:nvPr/>
        </p:nvSpPr>
        <p:spPr>
          <a:xfrm>
            <a:off x="7790400" y="2907720"/>
            <a:ext cx="932760" cy="360"/>
          </a:xfrm>
          <a:prstGeom prst="line">
            <a:avLst/>
          </a:prstGeom>
          <a:ln w="25400">
            <a:solidFill>
              <a:srgbClr val="16a34a"/>
            </a:solidFill>
            <a:round/>
            <a:tailEnd len="med" type="triangle" w="med"/>
          </a:ln>
        </p:spPr>
        <p:style>
          <a:lnRef idx="0"/>
          <a:fillRef idx="0"/>
          <a:effectRef idx="0"/>
          <a:fontRef idx="minor"/>
        </p:style>
        <p:txBody>
          <a:bodyPr lIns="90000" rIns="90000" tIns="-44640" bIns="-44640" anchor="t" anchorCtr="1">
            <a:noAutofit/>
          </a:bodyPr>
          <a:p>
            <a:endParaRPr b="0" lang="fr-FR" sz="1800" spc="-1" strike="noStrike">
              <a:solidFill>
                <a:srgbClr val="000000"/>
              </a:solidFill>
              <a:latin typeface="Arial"/>
            </a:endParaRPr>
          </a:p>
        </p:txBody>
      </p:sp>
      <p:sp>
        <p:nvSpPr>
          <p:cNvPr id="68" name="Shape 6"/>
          <p:cNvSpPr/>
          <p:nvPr/>
        </p:nvSpPr>
        <p:spPr>
          <a:xfrm flipH="1">
            <a:off x="3337560" y="3657600"/>
            <a:ext cx="932400" cy="360"/>
          </a:xfrm>
          <a:prstGeom prst="line">
            <a:avLst/>
          </a:prstGeom>
          <a:ln w="1524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fr-FR" sz="1800" spc="-1" strike="noStrike">
              <a:solidFill>
                <a:srgbClr val="000000"/>
              </a:solidFill>
              <a:latin typeface="Arial"/>
            </a:endParaRPr>
          </a:p>
        </p:txBody>
      </p:sp>
      <p:sp>
        <p:nvSpPr>
          <p:cNvPr id="69" name="Shape 7"/>
          <p:cNvSpPr/>
          <p:nvPr/>
        </p:nvSpPr>
        <p:spPr>
          <a:xfrm flipH="1">
            <a:off x="7790400" y="3657600"/>
            <a:ext cx="932760" cy="360"/>
          </a:xfrm>
          <a:prstGeom prst="line">
            <a:avLst/>
          </a:prstGeom>
          <a:ln w="15240">
            <a:solidFill>
              <a:srgbClr val="94a3b8"/>
            </a:solidFill>
            <a:round/>
            <a:tailEnd len="med" type="triangle" w="med"/>
          </a:ln>
        </p:spPr>
        <p:style>
          <a:lnRef idx="0"/>
          <a:fillRef idx="0"/>
          <a:effectRef idx="0"/>
          <a:fontRef idx="minor"/>
        </p:style>
        <p:txBody>
          <a:bodyPr lIns="90000" rIns="90000" tIns="-44640" bIns="-44640" anchor="t" anchorCtr="1">
            <a:noAutofit/>
          </a:bodyPr>
          <a:p>
            <a:endParaRPr b="0" lang="fr-FR" sz="1800" spc="-1" strike="noStrike">
              <a:solidFill>
                <a:srgbClr val="000000"/>
              </a:solidFill>
              <a:latin typeface="Arial"/>
            </a:endParaRPr>
          </a:p>
        </p:txBody>
      </p:sp>
      <p:sp>
        <p:nvSpPr>
          <p:cNvPr id="70" name="Shape 8"/>
          <p:cNvSpPr/>
          <p:nvPr/>
        </p:nvSpPr>
        <p:spPr>
          <a:xfrm>
            <a:off x="804600" y="1883520"/>
            <a:ext cx="2514240" cy="2139480"/>
          </a:xfrm>
          <a:prstGeom prst="roundRect">
            <a:avLst>
              <a:gd name="adj" fmla="val 5128"/>
            </a:avLst>
          </a:prstGeom>
          <a:solidFill>
            <a:srgbClr val="ffffff"/>
          </a:solidFill>
          <a:ln w="12700">
            <a:solidFill>
              <a:srgbClr val="2563eb"/>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71" name="Text 9"/>
          <p:cNvSpPr/>
          <p:nvPr/>
        </p:nvSpPr>
        <p:spPr>
          <a:xfrm>
            <a:off x="969120" y="1993320"/>
            <a:ext cx="218520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2563eb"/>
                </a:solidFill>
                <a:latin typeface="Aptos"/>
              </a:rPr>
              <a:t>CLIENT</a:t>
            </a:r>
            <a:endParaRPr b="0" lang="fr-FR" sz="1350" spc="-1" strike="noStrike">
              <a:solidFill>
                <a:srgbClr val="000000"/>
              </a:solidFill>
              <a:latin typeface="Arial"/>
            </a:endParaRPr>
          </a:p>
        </p:txBody>
      </p:sp>
      <p:sp>
        <p:nvSpPr>
          <p:cNvPr id="72" name="Text 10"/>
          <p:cNvSpPr/>
          <p:nvPr/>
        </p:nvSpPr>
        <p:spPr>
          <a:xfrm>
            <a:off x="1042560" y="2377440"/>
            <a:ext cx="2038680" cy="1535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50" spc="-1" strike="noStrike">
                <a:solidFill>
                  <a:srgbClr val="475569"/>
                </a:solidFill>
                <a:latin typeface="Aptos"/>
              </a:rPr>
              <a:t>HTML / CSS / JS</a:t>
            </a:r>
            <a:endParaRPr b="0" lang="fr-FR" sz="1250" spc="-1" strike="noStrike">
              <a:solidFill>
                <a:srgbClr val="000000"/>
              </a:solidFill>
              <a:latin typeface="Arial"/>
            </a:endParaRPr>
          </a:p>
          <a:p>
            <a:pPr algn="ctr" defTabSz="914400">
              <a:lnSpc>
                <a:spcPct val="100000"/>
              </a:lnSpc>
              <a:tabLst>
                <a:tab algn="l" pos="0"/>
              </a:tabLst>
            </a:pPr>
            <a:r>
              <a:rPr b="0" lang="en-US" sz="1250" spc="-1" strike="noStrike">
                <a:solidFill>
                  <a:srgbClr val="475569"/>
                </a:solidFill>
                <a:latin typeface="Aptos"/>
              </a:rPr>
              <a:t>Leaflet.js</a:t>
            </a:r>
            <a:endParaRPr b="0" lang="fr-FR" sz="1250" spc="-1" strike="noStrike">
              <a:solidFill>
                <a:srgbClr val="000000"/>
              </a:solidFill>
              <a:latin typeface="Arial"/>
            </a:endParaRPr>
          </a:p>
          <a:p>
            <a:pPr algn="ctr" defTabSz="914400">
              <a:lnSpc>
                <a:spcPct val="100000"/>
              </a:lnSpc>
              <a:tabLst>
                <a:tab algn="l" pos="0"/>
              </a:tabLst>
            </a:pPr>
            <a:r>
              <a:rPr b="0" lang="en-US" sz="1250" spc="-1" strike="noStrike">
                <a:solidFill>
                  <a:srgbClr val="475569"/>
                </a:solidFill>
                <a:latin typeface="Aptos"/>
              </a:rPr>
              <a:t>Geolocation API</a:t>
            </a:r>
            <a:endParaRPr b="0" lang="fr-FR" sz="1250" spc="-1" strike="noStrike">
              <a:solidFill>
                <a:srgbClr val="000000"/>
              </a:solidFill>
              <a:latin typeface="Arial"/>
            </a:endParaRPr>
          </a:p>
        </p:txBody>
      </p:sp>
      <p:sp>
        <p:nvSpPr>
          <p:cNvPr id="73" name="Shape 11"/>
          <p:cNvSpPr/>
          <p:nvPr/>
        </p:nvSpPr>
        <p:spPr>
          <a:xfrm>
            <a:off x="4370760" y="1883520"/>
            <a:ext cx="3309840" cy="2139480"/>
          </a:xfrm>
          <a:prstGeom prst="roundRect">
            <a:avLst>
              <a:gd name="adj" fmla="val 5128"/>
            </a:avLst>
          </a:prstGeom>
          <a:solidFill>
            <a:srgbClr val="ffffff"/>
          </a:solidFill>
          <a:ln w="12700">
            <a:solidFill>
              <a:srgbClr val="f97316"/>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74" name="Text 12"/>
          <p:cNvSpPr/>
          <p:nvPr/>
        </p:nvSpPr>
        <p:spPr>
          <a:xfrm>
            <a:off x="4535280" y="1993320"/>
            <a:ext cx="298044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f97316"/>
                </a:solidFill>
                <a:latin typeface="Aptos"/>
              </a:rPr>
              <a:t>SERVEUR APPLICATIF</a:t>
            </a:r>
            <a:endParaRPr b="0" lang="fr-FR" sz="1350" spc="-1" strike="noStrike">
              <a:solidFill>
                <a:srgbClr val="000000"/>
              </a:solidFill>
              <a:latin typeface="Arial"/>
            </a:endParaRPr>
          </a:p>
        </p:txBody>
      </p:sp>
      <p:sp>
        <p:nvSpPr>
          <p:cNvPr id="75" name="Text 13"/>
          <p:cNvSpPr/>
          <p:nvPr/>
        </p:nvSpPr>
        <p:spPr>
          <a:xfrm>
            <a:off x="4608720" y="2377440"/>
            <a:ext cx="2834280" cy="1535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50" spc="-1" strike="noStrike">
                <a:solidFill>
                  <a:srgbClr val="475569"/>
                </a:solidFill>
                <a:latin typeface="Aptos"/>
              </a:rPr>
              <a:t>Java Spring Boot</a:t>
            </a:r>
            <a:endParaRPr b="0" lang="fr-FR" sz="1250" spc="-1" strike="noStrike">
              <a:solidFill>
                <a:srgbClr val="000000"/>
              </a:solidFill>
              <a:latin typeface="Arial"/>
            </a:endParaRPr>
          </a:p>
          <a:p>
            <a:pPr algn="ctr" defTabSz="914400">
              <a:lnSpc>
                <a:spcPct val="100000"/>
              </a:lnSpc>
              <a:tabLst>
                <a:tab algn="l" pos="0"/>
              </a:tabLst>
            </a:pPr>
            <a:r>
              <a:rPr b="0" lang="en-US" sz="1250" spc="-1" strike="noStrike">
                <a:solidFill>
                  <a:srgbClr val="475569"/>
                </a:solidFill>
                <a:latin typeface="Aptos"/>
              </a:rPr>
              <a:t>API REST · Port 8081</a:t>
            </a:r>
            <a:endParaRPr b="0" lang="fr-FR" sz="1250" spc="-1" strike="noStrike">
              <a:solidFill>
                <a:srgbClr val="000000"/>
              </a:solidFill>
              <a:latin typeface="Arial"/>
            </a:endParaRPr>
          </a:p>
          <a:p>
            <a:pPr algn="ctr" defTabSz="914400">
              <a:lnSpc>
                <a:spcPct val="100000"/>
              </a:lnSpc>
              <a:tabLst>
                <a:tab algn="l" pos="0"/>
              </a:tabLst>
            </a:pPr>
            <a:r>
              <a:rPr b="0" lang="en-US" sz="1250" spc="-1" strike="noStrike">
                <a:solidFill>
                  <a:srgbClr val="475569"/>
                </a:solidFill>
                <a:latin typeface="Aptos"/>
              </a:rPr>
              <a:t>Controller → Service → Repository</a:t>
            </a:r>
            <a:endParaRPr b="0" lang="fr-FR" sz="1250" spc="-1" strike="noStrike">
              <a:solidFill>
                <a:srgbClr val="000000"/>
              </a:solidFill>
              <a:latin typeface="Arial"/>
            </a:endParaRPr>
          </a:p>
        </p:txBody>
      </p:sp>
      <p:sp>
        <p:nvSpPr>
          <p:cNvPr id="76" name="Shape 14"/>
          <p:cNvSpPr/>
          <p:nvPr/>
        </p:nvSpPr>
        <p:spPr>
          <a:xfrm>
            <a:off x="8832960" y="1883520"/>
            <a:ext cx="2541600" cy="2139480"/>
          </a:xfrm>
          <a:prstGeom prst="roundRect">
            <a:avLst>
              <a:gd name="adj" fmla="val 5128"/>
            </a:avLst>
          </a:prstGeom>
          <a:solidFill>
            <a:srgbClr val="ffffff"/>
          </a:solidFill>
          <a:ln w="12700">
            <a:solidFill>
              <a:srgbClr val="16a34a"/>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77" name="Text 15"/>
          <p:cNvSpPr/>
          <p:nvPr/>
        </p:nvSpPr>
        <p:spPr>
          <a:xfrm>
            <a:off x="8997840" y="1993320"/>
            <a:ext cx="2212560" cy="255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50" spc="-1" strike="noStrike">
                <a:solidFill>
                  <a:srgbClr val="16a34a"/>
                </a:solidFill>
                <a:latin typeface="Aptos"/>
              </a:rPr>
              <a:t>DONNÉES</a:t>
            </a:r>
            <a:endParaRPr b="0" lang="fr-FR" sz="1350" spc="-1" strike="noStrike">
              <a:solidFill>
                <a:srgbClr val="000000"/>
              </a:solidFill>
              <a:latin typeface="Arial"/>
            </a:endParaRPr>
          </a:p>
        </p:txBody>
      </p:sp>
      <p:sp>
        <p:nvSpPr>
          <p:cNvPr id="78" name="Text 16"/>
          <p:cNvSpPr/>
          <p:nvPr/>
        </p:nvSpPr>
        <p:spPr>
          <a:xfrm>
            <a:off x="9070920" y="2377440"/>
            <a:ext cx="2066040" cy="1535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50" spc="-1" strike="noStrike">
                <a:solidFill>
                  <a:srgbClr val="475569"/>
                </a:solidFill>
                <a:latin typeface="Aptos"/>
              </a:rPr>
              <a:t>PostgreSQL + PostGIS</a:t>
            </a:r>
            <a:endParaRPr b="0" lang="fr-FR" sz="1250" spc="-1" strike="noStrike">
              <a:solidFill>
                <a:srgbClr val="000000"/>
              </a:solidFill>
              <a:latin typeface="Arial"/>
            </a:endParaRPr>
          </a:p>
          <a:p>
            <a:pPr algn="ctr" defTabSz="914400">
              <a:lnSpc>
                <a:spcPct val="100000"/>
              </a:lnSpc>
              <a:tabLst>
                <a:tab algn="l" pos="0"/>
              </a:tabLst>
            </a:pPr>
            <a:r>
              <a:rPr b="0" lang="en-US" sz="1250" spc="-1" strike="noStrike">
                <a:solidFill>
                  <a:srgbClr val="475569"/>
                </a:solidFill>
                <a:latin typeface="Aptos"/>
              </a:rPr>
              <a:t>SRID 4326</a:t>
            </a:r>
            <a:endParaRPr b="0" lang="fr-FR" sz="1250" spc="-1" strike="noStrike">
              <a:solidFill>
                <a:srgbClr val="000000"/>
              </a:solidFill>
              <a:latin typeface="Arial"/>
            </a:endParaRPr>
          </a:p>
          <a:p>
            <a:pPr algn="ctr" defTabSz="914400">
              <a:lnSpc>
                <a:spcPct val="100000"/>
              </a:lnSpc>
              <a:tabLst>
                <a:tab algn="l" pos="0"/>
              </a:tabLst>
            </a:pPr>
            <a:r>
              <a:rPr b="0" lang="en-US" sz="1250" spc="-1" strike="noStrike">
                <a:solidFill>
                  <a:srgbClr val="475569"/>
                </a:solidFill>
                <a:latin typeface="Aptos"/>
              </a:rPr>
              <a:t>Index GIST</a:t>
            </a:r>
            <a:endParaRPr b="0" lang="fr-FR" sz="1250" spc="-1" strike="noStrike">
              <a:solidFill>
                <a:srgbClr val="000000"/>
              </a:solidFill>
              <a:latin typeface="Arial"/>
            </a:endParaRPr>
          </a:p>
        </p:txBody>
      </p:sp>
      <p:sp>
        <p:nvSpPr>
          <p:cNvPr id="79" name="Text 17"/>
          <p:cNvSpPr/>
          <p:nvPr/>
        </p:nvSpPr>
        <p:spPr>
          <a:xfrm>
            <a:off x="3474720" y="2578680"/>
            <a:ext cx="73116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 spc="-1" strike="noStrike">
                <a:solidFill>
                  <a:srgbClr val="2563eb"/>
                </a:solidFill>
                <a:latin typeface="Aptos"/>
              </a:rPr>
              <a:t>Requêtes HTTP</a:t>
            </a:r>
            <a:endParaRPr b="0" lang="fr-FR" sz="880" spc="-1" strike="noStrike">
              <a:solidFill>
                <a:srgbClr val="000000"/>
              </a:solidFill>
              <a:latin typeface="Arial"/>
            </a:endParaRPr>
          </a:p>
        </p:txBody>
      </p:sp>
      <p:sp>
        <p:nvSpPr>
          <p:cNvPr id="80" name="Text 18"/>
          <p:cNvSpPr/>
          <p:nvPr/>
        </p:nvSpPr>
        <p:spPr>
          <a:xfrm>
            <a:off x="3465720" y="3803760"/>
            <a:ext cx="76788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 spc="-1" strike="noStrike">
                <a:solidFill>
                  <a:srgbClr val="64748b"/>
                </a:solidFill>
                <a:latin typeface="Aptos"/>
              </a:rPr>
              <a:t>JSON / GeoJSON</a:t>
            </a:r>
            <a:endParaRPr b="0" lang="fr-FR" sz="880" spc="-1" strike="noStrike">
              <a:solidFill>
                <a:srgbClr val="000000"/>
              </a:solidFill>
              <a:latin typeface="Arial"/>
            </a:endParaRPr>
          </a:p>
        </p:txBody>
      </p:sp>
      <p:sp>
        <p:nvSpPr>
          <p:cNvPr id="81" name="Text 19"/>
          <p:cNvSpPr/>
          <p:nvPr/>
        </p:nvSpPr>
        <p:spPr>
          <a:xfrm>
            <a:off x="7936920" y="2578680"/>
            <a:ext cx="76788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 spc="-1" strike="noStrike">
                <a:solidFill>
                  <a:srgbClr val="16a34a"/>
                </a:solidFill>
                <a:latin typeface="Aptos"/>
              </a:rPr>
              <a:t>SQL spatial</a:t>
            </a:r>
            <a:endParaRPr b="0" lang="fr-FR" sz="880" spc="-1" strike="noStrike">
              <a:solidFill>
                <a:srgbClr val="000000"/>
              </a:solidFill>
              <a:latin typeface="Arial"/>
            </a:endParaRPr>
          </a:p>
        </p:txBody>
      </p:sp>
      <p:sp>
        <p:nvSpPr>
          <p:cNvPr id="82" name="Text 20"/>
          <p:cNvSpPr/>
          <p:nvPr/>
        </p:nvSpPr>
        <p:spPr>
          <a:xfrm>
            <a:off x="8046720" y="3803760"/>
            <a:ext cx="56664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80" spc="-1" strike="noStrike">
                <a:solidFill>
                  <a:srgbClr val="64748b"/>
                </a:solidFill>
                <a:latin typeface="Aptos"/>
              </a:rPr>
              <a:t>PostGIS</a:t>
            </a:r>
            <a:endParaRPr b="0" lang="fr-FR" sz="880" spc="-1" strike="noStrike">
              <a:solidFill>
                <a:srgbClr val="000000"/>
              </a:solidFill>
              <a:latin typeface="Arial"/>
            </a:endParaRPr>
          </a:p>
        </p:txBody>
      </p:sp>
      <p:sp>
        <p:nvSpPr>
          <p:cNvPr id="83" name="Shape 21"/>
          <p:cNvSpPr/>
          <p:nvPr/>
        </p:nvSpPr>
        <p:spPr>
          <a:xfrm>
            <a:off x="1097280" y="4827960"/>
            <a:ext cx="9966600" cy="621360"/>
          </a:xfrm>
          <a:prstGeom prst="roundRect">
            <a:avLst>
              <a:gd name="adj" fmla="val 17647"/>
            </a:avLst>
          </a:prstGeom>
          <a:solidFill>
            <a:srgbClr val="f8fafc"/>
          </a:solidFill>
          <a:ln w="12700">
            <a:solidFill>
              <a:srgbClr val="e2e8f0"/>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84" name="Text 22"/>
          <p:cNvSpPr/>
          <p:nvPr/>
        </p:nvSpPr>
        <p:spPr>
          <a:xfrm>
            <a:off x="1371600" y="5020200"/>
            <a:ext cx="9417960" cy="20088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1" lang="en-US" sz="1340" spc="-1" strike="noStrike">
                <a:solidFill>
                  <a:srgbClr val="475569"/>
                </a:solidFill>
                <a:latin typeface="Aptos"/>
              </a:rPr>
              <a:t>Fonctions spatiales utilisées : ST_Length · ST_Distance · ST_DWithin · ST_AsGeoJSON · opérateur &lt;-&gt; pour le plus proche voisin</a:t>
            </a:r>
            <a:endParaRPr b="0" lang="fr-FR" sz="1340" spc="-1" strike="noStrike">
              <a:solidFill>
                <a:srgbClr val="000000"/>
              </a:solidFill>
              <a:latin typeface="Arial"/>
            </a:endParaRPr>
          </a:p>
        </p:txBody>
      </p:sp>
      <p:sp>
        <p:nvSpPr>
          <p:cNvPr id="85" name="Text 23"/>
          <p:cNvSpPr/>
          <p:nvPr/>
        </p:nvSpPr>
        <p:spPr>
          <a:xfrm>
            <a:off x="438840" y="6528960"/>
            <a:ext cx="93265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64748b"/>
                </a:solidFill>
                <a:latin typeface="Aptos"/>
                <a:ea typeface="Aptos"/>
              </a:rPr>
              <a:t>SIG Bus Antananarivo — Lignes 146 · 147 · 178 · 187</a:t>
            </a:r>
            <a:endParaRPr b="0" lang="fr-FR" sz="850" spc="-1" strike="noStrike">
              <a:solidFill>
                <a:srgbClr val="000000"/>
              </a:solidFill>
              <a:latin typeface="Arial"/>
            </a:endParaRPr>
          </a:p>
        </p:txBody>
      </p:sp>
      <p:sp>
        <p:nvSpPr>
          <p:cNvPr id="86" name="Text 24"/>
          <p:cNvSpPr/>
          <p:nvPr/>
        </p:nvSpPr>
        <p:spPr>
          <a:xfrm>
            <a:off x="11292840" y="6492240"/>
            <a:ext cx="438480" cy="255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900" spc="-1" strike="noStrike">
                <a:solidFill>
                  <a:srgbClr val="475569"/>
                </a:solidFill>
                <a:latin typeface="Aptos"/>
                <a:ea typeface="Aptos"/>
              </a:rPr>
              <a:t>4</a:t>
            </a:r>
            <a:endParaRPr b="0" lang="fr-F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Shape 0"/>
          <p:cNvSpPr/>
          <p:nvPr/>
        </p:nvSpPr>
        <p:spPr>
          <a:xfrm>
            <a:off x="0" y="0"/>
            <a:ext cx="12191400" cy="6857640"/>
          </a:xfrm>
          <a:prstGeom prst="rect">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88" name="Shape 1"/>
          <p:cNvSpPr/>
          <p:nvPr/>
        </p:nvSpPr>
        <p:spPr>
          <a:xfrm>
            <a:off x="0" y="0"/>
            <a:ext cx="145800" cy="6857640"/>
          </a:xfrm>
          <a:prstGeom prst="rect">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89" name="Text 2"/>
          <p:cNvSpPr/>
          <p:nvPr/>
        </p:nvSpPr>
        <p:spPr>
          <a:xfrm>
            <a:off x="493920" y="311040"/>
            <a:ext cx="8595000" cy="438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0b1220"/>
                </a:solidFill>
                <a:latin typeface="Aptos Display"/>
                <a:ea typeface="Aptos Display"/>
              </a:rPr>
              <a:t>Fonctionnalités utilisateur</a:t>
            </a:r>
            <a:endParaRPr b="0" lang="fr-FR" sz="2800" spc="-1" strike="noStrike">
              <a:solidFill>
                <a:srgbClr val="000000"/>
              </a:solidFill>
              <a:latin typeface="Arial"/>
            </a:endParaRPr>
          </a:p>
        </p:txBody>
      </p:sp>
      <p:sp>
        <p:nvSpPr>
          <p:cNvPr id="90" name="Text 3"/>
          <p:cNvSpPr/>
          <p:nvPr/>
        </p:nvSpPr>
        <p:spPr>
          <a:xfrm>
            <a:off x="511920" y="804600"/>
            <a:ext cx="9875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75569"/>
                </a:solidFill>
                <a:latin typeface="Aptos"/>
              </a:rPr>
              <a:t>Une carte interactive orientée mobilité</a:t>
            </a:r>
            <a:endParaRPr b="0" lang="fr-FR" sz="1250" spc="-1" strike="noStrike">
              <a:solidFill>
                <a:srgbClr val="000000"/>
              </a:solidFill>
              <a:latin typeface="Arial"/>
            </a:endParaRPr>
          </a:p>
        </p:txBody>
      </p:sp>
      <p:sp>
        <p:nvSpPr>
          <p:cNvPr id="91" name="Shape 4"/>
          <p:cNvSpPr/>
          <p:nvPr/>
        </p:nvSpPr>
        <p:spPr>
          <a:xfrm>
            <a:off x="786240" y="1243440"/>
            <a:ext cx="4845960" cy="987120"/>
          </a:xfrm>
          <a:prstGeom prst="roundRect">
            <a:avLst>
              <a:gd name="adj" fmla="val 11111"/>
            </a:avLst>
          </a:prstGeom>
          <a:solidFill>
            <a:srgbClr val="ffffff"/>
          </a:solidFill>
          <a:ln w="12700">
            <a:solidFill>
              <a:srgbClr val="e2e8f0"/>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92" name="Shape 5"/>
          <p:cNvSpPr/>
          <p:nvPr/>
        </p:nvSpPr>
        <p:spPr>
          <a:xfrm>
            <a:off x="1005840" y="1463040"/>
            <a:ext cx="145800" cy="529920"/>
          </a:xfrm>
          <a:prstGeom prst="roundRect">
            <a:avLst>
              <a:gd name="adj" fmla="val 25000"/>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93" name="Text 6"/>
          <p:cNvSpPr/>
          <p:nvPr/>
        </p:nvSpPr>
        <p:spPr>
          <a:xfrm>
            <a:off x="1316880" y="1408320"/>
            <a:ext cx="20113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0b1220"/>
                </a:solidFill>
                <a:latin typeface="Aptos"/>
              </a:rPr>
              <a:t>Carte Leaflet</a:t>
            </a:r>
            <a:endParaRPr b="0" lang="fr-FR" sz="1550" spc="-1" strike="noStrike">
              <a:solidFill>
                <a:srgbClr val="000000"/>
              </a:solidFill>
              <a:latin typeface="Arial"/>
            </a:endParaRPr>
          </a:p>
        </p:txBody>
      </p:sp>
      <p:sp>
        <p:nvSpPr>
          <p:cNvPr id="94" name="Text 7"/>
          <p:cNvSpPr/>
          <p:nvPr/>
        </p:nvSpPr>
        <p:spPr>
          <a:xfrm>
            <a:off x="1316880" y="1746360"/>
            <a:ext cx="3876840" cy="255600"/>
          </a:xfrm>
          <a:prstGeom prst="rect">
            <a:avLst/>
          </a:prstGeom>
          <a:noFill/>
          <a:ln w="0">
            <a:noFill/>
          </a:ln>
        </p:spPr>
        <p:style>
          <a:lnRef idx="0"/>
          <a:fillRef idx="0"/>
          <a:effectRef idx="0"/>
          <a:fontRef idx="minor"/>
        </p:style>
        <p:txBody>
          <a:bodyPr lIns="0" rIns="0" tIns="0" bIns="0" anchor="ctr">
            <a:normAutofit fontScale="87222" lnSpcReduction="20000"/>
          </a:bodyPr>
          <a:p>
            <a:pPr defTabSz="914400">
              <a:lnSpc>
                <a:spcPct val="100000"/>
              </a:lnSpc>
              <a:tabLst>
                <a:tab algn="l" pos="0"/>
              </a:tabLst>
            </a:pPr>
            <a:r>
              <a:rPr b="0" lang="en-US" sz="1180" spc="-1" strike="noStrike">
                <a:solidFill>
                  <a:srgbClr val="475569"/>
                </a:solidFill>
                <a:latin typeface="Aptos"/>
              </a:rPr>
              <a:t>Fond Esri / Google Maps optionnel, carte centrée sur Antananarivo.</a:t>
            </a:r>
            <a:endParaRPr b="0" lang="fr-FR" sz="1180" spc="-1" strike="noStrike">
              <a:solidFill>
                <a:srgbClr val="000000"/>
              </a:solidFill>
              <a:latin typeface="Arial"/>
            </a:endParaRPr>
          </a:p>
        </p:txBody>
      </p:sp>
      <p:sp>
        <p:nvSpPr>
          <p:cNvPr id="95" name="Shape 8"/>
          <p:cNvSpPr/>
          <p:nvPr/>
        </p:nvSpPr>
        <p:spPr>
          <a:xfrm>
            <a:off x="6272640" y="1243440"/>
            <a:ext cx="4845960" cy="987120"/>
          </a:xfrm>
          <a:prstGeom prst="roundRect">
            <a:avLst>
              <a:gd name="adj" fmla="val 11111"/>
            </a:avLst>
          </a:prstGeom>
          <a:solidFill>
            <a:srgbClr val="ffffff"/>
          </a:solidFill>
          <a:ln w="12700">
            <a:solidFill>
              <a:srgbClr val="e2e8f0"/>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96" name="Shape 9"/>
          <p:cNvSpPr/>
          <p:nvPr/>
        </p:nvSpPr>
        <p:spPr>
          <a:xfrm>
            <a:off x="6492240" y="1463040"/>
            <a:ext cx="145800" cy="529920"/>
          </a:xfrm>
          <a:prstGeom prst="roundRect">
            <a:avLst>
              <a:gd name="adj" fmla="val 25000"/>
            </a:avLst>
          </a:prstGeom>
          <a:solidFill>
            <a:srgbClr val="f97316"/>
          </a:solidFill>
          <a:ln w="12700">
            <a:solidFill>
              <a:srgbClr val="f97316">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97" name="Text 10"/>
          <p:cNvSpPr/>
          <p:nvPr/>
        </p:nvSpPr>
        <p:spPr>
          <a:xfrm>
            <a:off x="6803280" y="1408320"/>
            <a:ext cx="20113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0b1220"/>
                </a:solidFill>
                <a:latin typeface="Aptos"/>
              </a:rPr>
              <a:t>Tracés cliquables</a:t>
            </a:r>
            <a:endParaRPr b="0" lang="fr-FR" sz="1550" spc="-1" strike="noStrike">
              <a:solidFill>
                <a:srgbClr val="000000"/>
              </a:solidFill>
              <a:latin typeface="Arial"/>
            </a:endParaRPr>
          </a:p>
        </p:txBody>
      </p:sp>
      <p:sp>
        <p:nvSpPr>
          <p:cNvPr id="98" name="Text 11"/>
          <p:cNvSpPr/>
          <p:nvPr/>
        </p:nvSpPr>
        <p:spPr>
          <a:xfrm>
            <a:off x="6803280" y="1746360"/>
            <a:ext cx="3876840" cy="25560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0" lang="en-US" sz="1180" spc="-1" strike="noStrike">
                <a:solidFill>
                  <a:srgbClr val="475569"/>
                </a:solidFill>
                <a:latin typeface="Aptos"/>
              </a:rPr>
              <a:t>Zoom sur la ligne, informations de distance, durée et prix.</a:t>
            </a:r>
            <a:endParaRPr b="0" lang="fr-FR" sz="1180" spc="-1" strike="noStrike">
              <a:solidFill>
                <a:srgbClr val="000000"/>
              </a:solidFill>
              <a:latin typeface="Arial"/>
            </a:endParaRPr>
          </a:p>
        </p:txBody>
      </p:sp>
      <p:sp>
        <p:nvSpPr>
          <p:cNvPr id="99" name="Shape 12"/>
          <p:cNvSpPr/>
          <p:nvPr/>
        </p:nvSpPr>
        <p:spPr>
          <a:xfrm>
            <a:off x="786240" y="2688480"/>
            <a:ext cx="4845960" cy="987120"/>
          </a:xfrm>
          <a:prstGeom prst="roundRect">
            <a:avLst>
              <a:gd name="adj" fmla="val 11111"/>
            </a:avLst>
          </a:prstGeom>
          <a:solidFill>
            <a:srgbClr val="ffffff"/>
          </a:solidFill>
          <a:ln w="12700">
            <a:solidFill>
              <a:srgbClr val="e2e8f0"/>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00" name="Shape 13"/>
          <p:cNvSpPr/>
          <p:nvPr/>
        </p:nvSpPr>
        <p:spPr>
          <a:xfrm>
            <a:off x="1005840" y="2907720"/>
            <a:ext cx="145800" cy="529920"/>
          </a:xfrm>
          <a:prstGeom prst="roundRect">
            <a:avLst>
              <a:gd name="adj" fmla="val 25000"/>
            </a:avLst>
          </a:prstGeom>
          <a:solidFill>
            <a:srgbClr val="7c3aed"/>
          </a:solidFill>
          <a:ln w="12700">
            <a:solidFill>
              <a:srgbClr val="7c3aed">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01" name="Text 14"/>
          <p:cNvSpPr/>
          <p:nvPr/>
        </p:nvSpPr>
        <p:spPr>
          <a:xfrm>
            <a:off x="1316880" y="2853000"/>
            <a:ext cx="20113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0b1220"/>
                </a:solidFill>
                <a:latin typeface="Aptos"/>
              </a:rPr>
              <a:t>Recherche</a:t>
            </a:r>
            <a:endParaRPr b="0" lang="fr-FR" sz="1550" spc="-1" strike="noStrike">
              <a:solidFill>
                <a:srgbClr val="000000"/>
              </a:solidFill>
              <a:latin typeface="Arial"/>
            </a:endParaRPr>
          </a:p>
        </p:txBody>
      </p:sp>
      <p:sp>
        <p:nvSpPr>
          <p:cNvPr id="102" name="Text 15"/>
          <p:cNvSpPr/>
          <p:nvPr/>
        </p:nvSpPr>
        <p:spPr>
          <a:xfrm>
            <a:off x="1316880" y="3191400"/>
            <a:ext cx="38768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pc="-1" strike="noStrike">
                <a:solidFill>
                  <a:srgbClr val="475569"/>
                </a:solidFill>
                <a:latin typeface="Aptos"/>
              </a:rPr>
              <a:t>Filtrage par numéro de ligne, quartier ou nom d’arrêt.</a:t>
            </a:r>
            <a:endParaRPr b="0" lang="fr-FR" sz="1180" spc="-1" strike="noStrike">
              <a:solidFill>
                <a:srgbClr val="000000"/>
              </a:solidFill>
              <a:latin typeface="Arial"/>
            </a:endParaRPr>
          </a:p>
        </p:txBody>
      </p:sp>
      <p:sp>
        <p:nvSpPr>
          <p:cNvPr id="103" name="Shape 16"/>
          <p:cNvSpPr/>
          <p:nvPr/>
        </p:nvSpPr>
        <p:spPr>
          <a:xfrm>
            <a:off x="6272640" y="2688480"/>
            <a:ext cx="4845960" cy="987120"/>
          </a:xfrm>
          <a:prstGeom prst="roundRect">
            <a:avLst>
              <a:gd name="adj" fmla="val 11111"/>
            </a:avLst>
          </a:prstGeom>
          <a:solidFill>
            <a:srgbClr val="ffffff"/>
          </a:solidFill>
          <a:ln w="12700">
            <a:solidFill>
              <a:srgbClr val="e2e8f0"/>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04" name="Shape 17"/>
          <p:cNvSpPr/>
          <p:nvPr/>
        </p:nvSpPr>
        <p:spPr>
          <a:xfrm>
            <a:off x="6492240" y="2907720"/>
            <a:ext cx="145800" cy="529920"/>
          </a:xfrm>
          <a:prstGeom prst="roundRect">
            <a:avLst>
              <a:gd name="adj" fmla="val 25000"/>
            </a:avLst>
          </a:prstGeom>
          <a:solidFill>
            <a:srgbClr val="16a34a"/>
          </a:solidFill>
          <a:ln w="12700">
            <a:solidFill>
              <a:srgbClr val="16a34a">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05" name="Text 18"/>
          <p:cNvSpPr/>
          <p:nvPr/>
        </p:nvSpPr>
        <p:spPr>
          <a:xfrm>
            <a:off x="6803280" y="2853000"/>
            <a:ext cx="20113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0b1220"/>
                </a:solidFill>
                <a:latin typeface="Aptos"/>
              </a:rPr>
              <a:t>Géolocalisation</a:t>
            </a:r>
            <a:endParaRPr b="0" lang="fr-FR" sz="1550" spc="-1" strike="noStrike">
              <a:solidFill>
                <a:srgbClr val="000000"/>
              </a:solidFill>
              <a:latin typeface="Arial"/>
            </a:endParaRPr>
          </a:p>
        </p:txBody>
      </p:sp>
      <p:sp>
        <p:nvSpPr>
          <p:cNvPr id="106" name="Text 19"/>
          <p:cNvSpPr/>
          <p:nvPr/>
        </p:nvSpPr>
        <p:spPr>
          <a:xfrm>
            <a:off x="6803280" y="3191400"/>
            <a:ext cx="3876840" cy="255600"/>
          </a:xfrm>
          <a:prstGeom prst="rect">
            <a:avLst/>
          </a:prstGeom>
          <a:noFill/>
          <a:ln w="0">
            <a:noFill/>
          </a:ln>
        </p:spPr>
        <p:style>
          <a:lnRef idx="0"/>
          <a:fillRef idx="0"/>
          <a:effectRef idx="0"/>
          <a:fontRef idx="minor"/>
        </p:style>
        <p:txBody>
          <a:bodyPr lIns="0" rIns="0" tIns="0" bIns="0" anchor="ctr">
            <a:normAutofit fontScale="87222" lnSpcReduction="20000"/>
          </a:bodyPr>
          <a:p>
            <a:pPr defTabSz="914400">
              <a:lnSpc>
                <a:spcPct val="100000"/>
              </a:lnSpc>
              <a:tabLst>
                <a:tab algn="l" pos="0"/>
              </a:tabLst>
            </a:pPr>
            <a:r>
              <a:rPr b="0" lang="en-US" sz="1180" spc="-1" strike="noStrike">
                <a:solidFill>
                  <a:srgbClr val="475569"/>
                </a:solidFill>
                <a:latin typeface="Aptos"/>
              </a:rPr>
              <a:t>Position navigateur, fallback et bouton ITU pour la démonstration.</a:t>
            </a:r>
            <a:endParaRPr b="0" lang="fr-FR" sz="1180" spc="-1" strike="noStrike">
              <a:solidFill>
                <a:srgbClr val="000000"/>
              </a:solidFill>
              <a:latin typeface="Arial"/>
            </a:endParaRPr>
          </a:p>
        </p:txBody>
      </p:sp>
      <p:sp>
        <p:nvSpPr>
          <p:cNvPr id="107" name="Shape 20"/>
          <p:cNvSpPr/>
          <p:nvPr/>
        </p:nvSpPr>
        <p:spPr>
          <a:xfrm>
            <a:off x="786240" y="4133160"/>
            <a:ext cx="4845960" cy="987120"/>
          </a:xfrm>
          <a:prstGeom prst="roundRect">
            <a:avLst>
              <a:gd name="adj" fmla="val 11111"/>
            </a:avLst>
          </a:prstGeom>
          <a:solidFill>
            <a:srgbClr val="ffffff"/>
          </a:solidFill>
          <a:ln w="12700">
            <a:solidFill>
              <a:srgbClr val="e2e8f0"/>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08" name="Shape 21"/>
          <p:cNvSpPr/>
          <p:nvPr/>
        </p:nvSpPr>
        <p:spPr>
          <a:xfrm>
            <a:off x="1005840" y="4352400"/>
            <a:ext cx="145800" cy="529920"/>
          </a:xfrm>
          <a:prstGeom prst="roundRect">
            <a:avLst>
              <a:gd name="adj" fmla="val 25000"/>
            </a:avLst>
          </a:prstGeom>
          <a:solidFill>
            <a:srgbClr val="ef4444"/>
          </a:solidFill>
          <a:ln w="12700">
            <a:solidFill>
              <a:srgbClr val="ef4444">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09" name="Text 22"/>
          <p:cNvSpPr/>
          <p:nvPr/>
        </p:nvSpPr>
        <p:spPr>
          <a:xfrm>
            <a:off x="1316880" y="4297680"/>
            <a:ext cx="20113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0b1220"/>
                </a:solidFill>
                <a:latin typeface="Aptos"/>
              </a:rPr>
              <a:t>Arrêt &amp; bus proches</a:t>
            </a:r>
            <a:endParaRPr b="0" lang="fr-FR" sz="1550" spc="-1" strike="noStrike">
              <a:solidFill>
                <a:srgbClr val="000000"/>
              </a:solidFill>
              <a:latin typeface="Arial"/>
            </a:endParaRPr>
          </a:p>
        </p:txBody>
      </p:sp>
      <p:sp>
        <p:nvSpPr>
          <p:cNvPr id="110" name="Text 23"/>
          <p:cNvSpPr/>
          <p:nvPr/>
        </p:nvSpPr>
        <p:spPr>
          <a:xfrm>
            <a:off x="1316880" y="4636080"/>
            <a:ext cx="38768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80" spc="-1" strike="noStrike">
                <a:solidFill>
                  <a:srgbClr val="475569"/>
                </a:solidFill>
                <a:latin typeface="Aptos"/>
              </a:rPr>
              <a:t>Calcul automatique de l’arrêt et du bus le plus proche.</a:t>
            </a:r>
            <a:endParaRPr b="0" lang="fr-FR" sz="1180" spc="-1" strike="noStrike">
              <a:solidFill>
                <a:srgbClr val="000000"/>
              </a:solidFill>
              <a:latin typeface="Arial"/>
            </a:endParaRPr>
          </a:p>
        </p:txBody>
      </p:sp>
      <p:sp>
        <p:nvSpPr>
          <p:cNvPr id="111" name="Shape 24"/>
          <p:cNvSpPr/>
          <p:nvPr/>
        </p:nvSpPr>
        <p:spPr>
          <a:xfrm>
            <a:off x="6272640" y="4133160"/>
            <a:ext cx="4845960" cy="987120"/>
          </a:xfrm>
          <a:prstGeom prst="roundRect">
            <a:avLst>
              <a:gd name="adj" fmla="val 11111"/>
            </a:avLst>
          </a:prstGeom>
          <a:solidFill>
            <a:srgbClr val="ffffff"/>
          </a:solidFill>
          <a:ln w="12700">
            <a:solidFill>
              <a:srgbClr val="e2e8f0"/>
            </a:solidFill>
            <a:round/>
          </a:ln>
          <a:effectLst>
            <a:outerShdw algn="bl" blurRad="19080" dir="2700000" dist="8654" kx="0" ky="0" rotWithShape="0" sx="100000" sy="100000">
              <a:srgbClr val="000000">
                <a:alpha val="8000"/>
              </a:srgbClr>
            </a:outerShdw>
          </a:effectLst>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12" name="Shape 25"/>
          <p:cNvSpPr/>
          <p:nvPr/>
        </p:nvSpPr>
        <p:spPr>
          <a:xfrm>
            <a:off x="6492240" y="4352400"/>
            <a:ext cx="145800" cy="529920"/>
          </a:xfrm>
          <a:prstGeom prst="roundRect">
            <a:avLst>
              <a:gd name="adj" fmla="val 25000"/>
            </a:avLst>
          </a:prstGeom>
          <a:solidFill>
            <a:srgbClr val="0891b2"/>
          </a:solidFill>
          <a:ln w="12700">
            <a:solidFill>
              <a:srgbClr val="0891b2">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13" name="Text 26"/>
          <p:cNvSpPr/>
          <p:nvPr/>
        </p:nvSpPr>
        <p:spPr>
          <a:xfrm>
            <a:off x="6803280" y="4297680"/>
            <a:ext cx="2011320" cy="219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50" spc="-1" strike="noStrike">
                <a:solidFill>
                  <a:srgbClr val="0b1220"/>
                </a:solidFill>
                <a:latin typeface="Aptos"/>
              </a:rPr>
              <a:t>Mode démonstration</a:t>
            </a:r>
            <a:endParaRPr b="0" lang="fr-FR" sz="1550" spc="-1" strike="noStrike">
              <a:solidFill>
                <a:srgbClr val="000000"/>
              </a:solidFill>
              <a:latin typeface="Arial"/>
            </a:endParaRPr>
          </a:p>
        </p:txBody>
      </p:sp>
      <p:sp>
        <p:nvSpPr>
          <p:cNvPr id="114" name="Text 27"/>
          <p:cNvSpPr/>
          <p:nvPr/>
        </p:nvSpPr>
        <p:spPr>
          <a:xfrm>
            <a:off x="6803280" y="4636080"/>
            <a:ext cx="3876840" cy="255600"/>
          </a:xfrm>
          <a:prstGeom prst="rect">
            <a:avLst/>
          </a:prstGeom>
          <a:noFill/>
          <a:ln w="0">
            <a:noFill/>
          </a:ln>
        </p:spPr>
        <p:style>
          <a:lnRef idx="0"/>
          <a:fillRef idx="0"/>
          <a:effectRef idx="0"/>
          <a:fontRef idx="minor"/>
        </p:style>
        <p:txBody>
          <a:bodyPr lIns="0" rIns="0" tIns="0" bIns="0" anchor="ctr">
            <a:normAutofit fontScale="93333" lnSpcReduction="20000"/>
          </a:bodyPr>
          <a:p>
            <a:pPr defTabSz="914400">
              <a:lnSpc>
                <a:spcPct val="100000"/>
              </a:lnSpc>
              <a:tabLst>
                <a:tab algn="l" pos="0"/>
              </a:tabLst>
            </a:pPr>
            <a:r>
              <a:rPr b="0" lang="en-US" sz="1180" spc="-1" strike="noStrike">
                <a:solidFill>
                  <a:srgbClr val="475569"/>
                </a:solidFill>
                <a:latin typeface="Aptos"/>
              </a:rPr>
              <a:t>Affichage possible même si le backend local n’est pas lancé.</a:t>
            </a:r>
            <a:endParaRPr b="0" lang="fr-FR" sz="1180" spc="-1" strike="noStrike">
              <a:solidFill>
                <a:srgbClr val="000000"/>
              </a:solidFill>
              <a:latin typeface="Arial"/>
            </a:endParaRPr>
          </a:p>
        </p:txBody>
      </p:sp>
      <p:sp>
        <p:nvSpPr>
          <p:cNvPr id="115" name="Shape 28"/>
          <p:cNvSpPr/>
          <p:nvPr/>
        </p:nvSpPr>
        <p:spPr>
          <a:xfrm>
            <a:off x="1371600" y="5532120"/>
            <a:ext cx="9509400" cy="456840"/>
          </a:xfrm>
          <a:prstGeom prst="roundRect">
            <a:avLst>
              <a:gd name="adj" fmla="val 24000"/>
            </a:avLst>
          </a:prstGeom>
          <a:solidFill>
            <a:srgbClr val="eff6ff"/>
          </a:solidFill>
          <a:ln w="12700">
            <a:solidFill>
              <a:srgbClr val="bfdbfe"/>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16" name="Text 29"/>
          <p:cNvSpPr/>
          <p:nvPr/>
        </p:nvSpPr>
        <p:spPr>
          <a:xfrm>
            <a:off x="1627560" y="5687640"/>
            <a:ext cx="8960760" cy="136800"/>
          </a:xfrm>
          <a:prstGeom prst="rect">
            <a:avLst/>
          </a:prstGeom>
          <a:noFill/>
          <a:ln w="0">
            <a:noFill/>
          </a:ln>
        </p:spPr>
        <p:style>
          <a:lnRef idx="0"/>
          <a:fillRef idx="0"/>
          <a:effectRef idx="0"/>
          <a:fontRef idx="minor"/>
        </p:style>
        <p:txBody>
          <a:bodyPr lIns="0" rIns="0" tIns="0" bIns="0" anchor="ctr">
            <a:normAutofit fontScale="87222"/>
          </a:bodyPr>
          <a:p>
            <a:pPr algn="ctr" defTabSz="914400">
              <a:lnSpc>
                <a:spcPct val="100000"/>
              </a:lnSpc>
              <a:tabLst>
                <a:tab algn="l" pos="0"/>
              </a:tabLst>
            </a:pPr>
            <a:r>
              <a:rPr b="1" lang="en-US" sz="1250" spc="-1" strike="noStrike">
                <a:solidFill>
                  <a:srgbClr val="2563eb"/>
                </a:solidFill>
                <a:latin typeface="Aptos"/>
              </a:rPr>
              <a:t>Point fort : l’application ne demande pas seulement “où sont les lignes ?” ; elle répond “quelle ligne est la plus utile ici et maintenant ?”.</a:t>
            </a:r>
            <a:endParaRPr b="0" lang="fr-FR" sz="1250" spc="-1" strike="noStrike">
              <a:solidFill>
                <a:srgbClr val="000000"/>
              </a:solidFill>
              <a:latin typeface="Arial"/>
            </a:endParaRPr>
          </a:p>
        </p:txBody>
      </p:sp>
      <p:sp>
        <p:nvSpPr>
          <p:cNvPr id="117" name="Text 30"/>
          <p:cNvSpPr/>
          <p:nvPr/>
        </p:nvSpPr>
        <p:spPr>
          <a:xfrm>
            <a:off x="438840" y="6528960"/>
            <a:ext cx="93265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64748b"/>
                </a:solidFill>
                <a:latin typeface="Aptos"/>
                <a:ea typeface="Aptos"/>
              </a:rPr>
              <a:t>SIG Bus Antananarivo — Lignes 146 · 147 · 178 · 187</a:t>
            </a:r>
            <a:endParaRPr b="0" lang="fr-FR" sz="850" spc="-1" strike="noStrike">
              <a:solidFill>
                <a:srgbClr val="000000"/>
              </a:solidFill>
              <a:latin typeface="Arial"/>
            </a:endParaRPr>
          </a:p>
        </p:txBody>
      </p:sp>
      <p:sp>
        <p:nvSpPr>
          <p:cNvPr id="118" name="Text 31"/>
          <p:cNvSpPr/>
          <p:nvPr/>
        </p:nvSpPr>
        <p:spPr>
          <a:xfrm>
            <a:off x="11292840" y="6492240"/>
            <a:ext cx="438480" cy="255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900" spc="-1" strike="noStrike">
                <a:solidFill>
                  <a:srgbClr val="475569"/>
                </a:solidFill>
                <a:latin typeface="Aptos"/>
                <a:ea typeface="Aptos"/>
              </a:rPr>
              <a:t>8</a:t>
            </a:r>
            <a:endParaRPr b="0" lang="fr-F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Shape 0"/>
          <p:cNvSpPr/>
          <p:nvPr/>
        </p:nvSpPr>
        <p:spPr>
          <a:xfrm>
            <a:off x="0" y="0"/>
            <a:ext cx="12191400" cy="6857640"/>
          </a:xfrm>
          <a:prstGeom prst="rect">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20" name="Shape 1"/>
          <p:cNvSpPr/>
          <p:nvPr/>
        </p:nvSpPr>
        <p:spPr>
          <a:xfrm>
            <a:off x="0" y="0"/>
            <a:ext cx="145800" cy="6857640"/>
          </a:xfrm>
          <a:prstGeom prst="rect">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1" name="Text 2"/>
          <p:cNvSpPr/>
          <p:nvPr/>
        </p:nvSpPr>
        <p:spPr>
          <a:xfrm>
            <a:off x="493920" y="311040"/>
            <a:ext cx="8595000" cy="438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0b1220"/>
                </a:solidFill>
                <a:latin typeface="Aptos Display"/>
                <a:ea typeface="Aptos Display"/>
              </a:rPr>
              <a:t>Démonstration de l’interface</a:t>
            </a:r>
            <a:endParaRPr b="0" lang="fr-FR" sz="2800" spc="-1" strike="noStrike">
              <a:solidFill>
                <a:srgbClr val="000000"/>
              </a:solidFill>
              <a:latin typeface="Arial"/>
            </a:endParaRPr>
          </a:p>
        </p:txBody>
      </p:sp>
      <p:sp>
        <p:nvSpPr>
          <p:cNvPr id="122" name="Text 3"/>
          <p:cNvSpPr/>
          <p:nvPr/>
        </p:nvSpPr>
        <p:spPr>
          <a:xfrm>
            <a:off x="511920" y="804600"/>
            <a:ext cx="9875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50" spc="-1" strike="noStrike">
                <a:solidFill>
                  <a:srgbClr val="475569"/>
                </a:solidFill>
                <a:latin typeface="Aptos"/>
              </a:rPr>
              <a:t>Parcours conseillé pendant l’exposé</a:t>
            </a:r>
            <a:endParaRPr b="0" lang="fr-FR" sz="1250" spc="-1" strike="noStrike">
              <a:solidFill>
                <a:srgbClr val="000000"/>
              </a:solidFill>
              <a:latin typeface="Arial"/>
            </a:endParaRPr>
          </a:p>
        </p:txBody>
      </p:sp>
      <p:pic>
        <p:nvPicPr>
          <p:cNvPr id="123" name="Image 0" descr="/mnt/data/old_media/ppt/media/image9.png"/>
          <p:cNvPicPr/>
          <p:nvPr/>
        </p:nvPicPr>
        <p:blipFill>
          <a:blip r:embed="rId1"/>
          <a:srcRect l="0" t="0" r="17858" b="4001"/>
          <a:stretch/>
        </p:blipFill>
        <p:spPr>
          <a:xfrm>
            <a:off x="713160" y="1261800"/>
            <a:ext cx="6446160" cy="3876840"/>
          </a:xfrm>
          <a:prstGeom prst="rect">
            <a:avLst/>
          </a:prstGeom>
          <a:ln w="0">
            <a:noFill/>
          </a:ln>
        </p:spPr>
      </p:pic>
      <p:sp>
        <p:nvSpPr>
          <p:cNvPr id="124" name="Shape 4"/>
          <p:cNvSpPr/>
          <p:nvPr/>
        </p:nvSpPr>
        <p:spPr>
          <a:xfrm>
            <a:off x="713160" y="1261800"/>
            <a:ext cx="6446160" cy="3876840"/>
          </a:xfrm>
          <a:prstGeom prst="rect">
            <a:avLst/>
          </a:prstGeom>
          <a:noFill/>
          <a:ln w="12700">
            <a:solidFill>
              <a:srgbClr val="cbd5e1"/>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25" name="Shape 5"/>
          <p:cNvSpPr/>
          <p:nvPr/>
        </p:nvSpPr>
        <p:spPr>
          <a:xfrm>
            <a:off x="7571160" y="1334880"/>
            <a:ext cx="3858480" cy="712800"/>
          </a:xfrm>
          <a:prstGeom prst="roundRect">
            <a:avLst>
              <a:gd name="adj" fmla="val 15385"/>
            </a:avLst>
          </a:prstGeom>
          <a:solidFill>
            <a:srgbClr val="ffffff"/>
          </a:solidFill>
          <a:ln w="12700">
            <a:solidFill>
              <a:srgbClr val="e2e8f0"/>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26" name="Shape 6"/>
          <p:cNvSpPr/>
          <p:nvPr/>
        </p:nvSpPr>
        <p:spPr>
          <a:xfrm>
            <a:off x="7790760" y="1517760"/>
            <a:ext cx="310680" cy="310680"/>
          </a:xfrm>
          <a:prstGeom prst="ellipse">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27" name="Text 7"/>
          <p:cNvSpPr/>
          <p:nvPr/>
        </p:nvSpPr>
        <p:spPr>
          <a:xfrm>
            <a:off x="7790760" y="1581840"/>
            <a:ext cx="310680" cy="91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ptos"/>
              </a:rPr>
              <a:t>1</a:t>
            </a:r>
            <a:endParaRPr b="0" lang="fr-FR" sz="850" spc="-1" strike="noStrike">
              <a:solidFill>
                <a:srgbClr val="000000"/>
              </a:solidFill>
              <a:latin typeface="Arial"/>
            </a:endParaRPr>
          </a:p>
        </p:txBody>
      </p:sp>
      <p:sp>
        <p:nvSpPr>
          <p:cNvPr id="128" name="Text 8"/>
          <p:cNvSpPr/>
          <p:nvPr/>
        </p:nvSpPr>
        <p:spPr>
          <a:xfrm>
            <a:off x="8266320" y="1454040"/>
            <a:ext cx="26514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1220"/>
                </a:solidFill>
                <a:latin typeface="Aptos"/>
              </a:rPr>
              <a:t>Présenter la sidebar</a:t>
            </a:r>
            <a:endParaRPr b="0" lang="fr-FR" sz="1250" spc="-1" strike="noStrike">
              <a:solidFill>
                <a:srgbClr val="000000"/>
              </a:solidFill>
              <a:latin typeface="Arial"/>
            </a:endParaRPr>
          </a:p>
        </p:txBody>
      </p:sp>
      <p:sp>
        <p:nvSpPr>
          <p:cNvPr id="129" name="Text 9"/>
          <p:cNvSpPr/>
          <p:nvPr/>
        </p:nvSpPr>
        <p:spPr>
          <a:xfrm>
            <a:off x="8266320" y="1728360"/>
            <a:ext cx="288000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pc="-1" strike="noStrike">
                <a:solidFill>
                  <a:srgbClr val="475569"/>
                </a:solidFill>
                <a:latin typeface="Aptos"/>
              </a:rPr>
              <a:t>Recherche, statistiques, fiches de lignes.</a:t>
            </a:r>
            <a:endParaRPr b="0" lang="fr-FR" sz="980" spc="-1" strike="noStrike">
              <a:solidFill>
                <a:srgbClr val="000000"/>
              </a:solidFill>
              <a:latin typeface="Arial"/>
            </a:endParaRPr>
          </a:p>
        </p:txBody>
      </p:sp>
      <p:sp>
        <p:nvSpPr>
          <p:cNvPr id="130" name="Shape 10"/>
          <p:cNvSpPr/>
          <p:nvPr/>
        </p:nvSpPr>
        <p:spPr>
          <a:xfrm>
            <a:off x="7571160" y="2267640"/>
            <a:ext cx="3858480" cy="712800"/>
          </a:xfrm>
          <a:prstGeom prst="roundRect">
            <a:avLst>
              <a:gd name="adj" fmla="val 15385"/>
            </a:avLst>
          </a:prstGeom>
          <a:solidFill>
            <a:srgbClr val="ffffff"/>
          </a:solidFill>
          <a:ln w="12700">
            <a:solidFill>
              <a:srgbClr val="e2e8f0"/>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31" name="Shape 11"/>
          <p:cNvSpPr/>
          <p:nvPr/>
        </p:nvSpPr>
        <p:spPr>
          <a:xfrm>
            <a:off x="7790760" y="2450520"/>
            <a:ext cx="310680" cy="310680"/>
          </a:xfrm>
          <a:prstGeom prst="ellipse">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32" name="Text 12"/>
          <p:cNvSpPr/>
          <p:nvPr/>
        </p:nvSpPr>
        <p:spPr>
          <a:xfrm>
            <a:off x="7790760" y="2514600"/>
            <a:ext cx="310680" cy="91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ptos"/>
              </a:rPr>
              <a:t>2</a:t>
            </a:r>
            <a:endParaRPr b="0" lang="fr-FR" sz="850" spc="-1" strike="noStrike">
              <a:solidFill>
                <a:srgbClr val="000000"/>
              </a:solidFill>
              <a:latin typeface="Arial"/>
            </a:endParaRPr>
          </a:p>
        </p:txBody>
      </p:sp>
      <p:sp>
        <p:nvSpPr>
          <p:cNvPr id="133" name="Text 13"/>
          <p:cNvSpPr/>
          <p:nvPr/>
        </p:nvSpPr>
        <p:spPr>
          <a:xfrm>
            <a:off x="8266320" y="2386440"/>
            <a:ext cx="26514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1220"/>
                </a:solidFill>
                <a:latin typeface="Aptos"/>
              </a:rPr>
              <a:t>Cliquer sur une ligne</a:t>
            </a:r>
            <a:endParaRPr b="0" lang="fr-FR" sz="1250" spc="-1" strike="noStrike">
              <a:solidFill>
                <a:srgbClr val="000000"/>
              </a:solidFill>
              <a:latin typeface="Arial"/>
            </a:endParaRPr>
          </a:p>
        </p:txBody>
      </p:sp>
      <p:sp>
        <p:nvSpPr>
          <p:cNvPr id="134" name="Text 14"/>
          <p:cNvSpPr/>
          <p:nvPr/>
        </p:nvSpPr>
        <p:spPr>
          <a:xfrm>
            <a:off x="8266320" y="2660760"/>
            <a:ext cx="288000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pc="-1" strike="noStrike">
                <a:solidFill>
                  <a:srgbClr val="475569"/>
                </a:solidFill>
                <a:latin typeface="Aptos"/>
              </a:rPr>
              <a:t>Zoom sur le tracé et lecture des détails.</a:t>
            </a:r>
            <a:endParaRPr b="0" lang="fr-FR" sz="980" spc="-1" strike="noStrike">
              <a:solidFill>
                <a:srgbClr val="000000"/>
              </a:solidFill>
              <a:latin typeface="Arial"/>
            </a:endParaRPr>
          </a:p>
        </p:txBody>
      </p:sp>
      <p:sp>
        <p:nvSpPr>
          <p:cNvPr id="135" name="Shape 15"/>
          <p:cNvSpPr/>
          <p:nvPr/>
        </p:nvSpPr>
        <p:spPr>
          <a:xfrm>
            <a:off x="7571160" y="3200400"/>
            <a:ext cx="3858480" cy="712800"/>
          </a:xfrm>
          <a:prstGeom prst="roundRect">
            <a:avLst>
              <a:gd name="adj" fmla="val 15385"/>
            </a:avLst>
          </a:prstGeom>
          <a:solidFill>
            <a:srgbClr val="ffffff"/>
          </a:solidFill>
          <a:ln w="12700">
            <a:solidFill>
              <a:srgbClr val="e2e8f0"/>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36" name="Shape 16"/>
          <p:cNvSpPr/>
          <p:nvPr/>
        </p:nvSpPr>
        <p:spPr>
          <a:xfrm>
            <a:off x="7790760" y="3383280"/>
            <a:ext cx="310680" cy="310680"/>
          </a:xfrm>
          <a:prstGeom prst="ellipse">
            <a:avLst/>
          </a:prstGeom>
          <a:solidFill>
            <a:srgbClr val="2563eb"/>
          </a:solidFill>
          <a:ln w="12700">
            <a:solidFill>
              <a:srgbClr val="2563eb">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37" name="Text 17"/>
          <p:cNvSpPr/>
          <p:nvPr/>
        </p:nvSpPr>
        <p:spPr>
          <a:xfrm>
            <a:off x="7790760" y="3447360"/>
            <a:ext cx="310680" cy="91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ptos"/>
              </a:rPr>
              <a:t>3</a:t>
            </a:r>
            <a:endParaRPr b="0" lang="fr-FR" sz="850" spc="-1" strike="noStrike">
              <a:solidFill>
                <a:srgbClr val="000000"/>
              </a:solidFill>
              <a:latin typeface="Arial"/>
            </a:endParaRPr>
          </a:p>
        </p:txBody>
      </p:sp>
      <p:sp>
        <p:nvSpPr>
          <p:cNvPr id="138" name="Text 18"/>
          <p:cNvSpPr/>
          <p:nvPr/>
        </p:nvSpPr>
        <p:spPr>
          <a:xfrm>
            <a:off x="8266320" y="3319200"/>
            <a:ext cx="26514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1220"/>
                </a:solidFill>
                <a:latin typeface="Aptos"/>
              </a:rPr>
              <a:t>Activer la localisation</a:t>
            </a:r>
            <a:endParaRPr b="0" lang="fr-FR" sz="1250" spc="-1" strike="noStrike">
              <a:solidFill>
                <a:srgbClr val="000000"/>
              </a:solidFill>
              <a:latin typeface="Arial"/>
            </a:endParaRPr>
          </a:p>
        </p:txBody>
      </p:sp>
      <p:sp>
        <p:nvSpPr>
          <p:cNvPr id="139" name="Text 19"/>
          <p:cNvSpPr/>
          <p:nvPr/>
        </p:nvSpPr>
        <p:spPr>
          <a:xfrm>
            <a:off x="8266320" y="3593520"/>
            <a:ext cx="2880000" cy="145800"/>
          </a:xfrm>
          <a:prstGeom prst="rect">
            <a:avLst/>
          </a:prstGeom>
          <a:noFill/>
          <a:ln w="0">
            <a:noFill/>
          </a:ln>
        </p:spPr>
        <p:style>
          <a:lnRef idx="0"/>
          <a:fillRef idx="0"/>
          <a:effectRef idx="0"/>
          <a:fontRef idx="minor"/>
        </p:style>
        <p:txBody>
          <a:bodyPr lIns="0" rIns="0" tIns="0" bIns="0" anchor="ctr">
            <a:normAutofit fontScale="87222"/>
          </a:bodyPr>
          <a:p>
            <a:pPr defTabSz="914400">
              <a:lnSpc>
                <a:spcPct val="100000"/>
              </a:lnSpc>
              <a:tabLst>
                <a:tab algn="l" pos="0"/>
              </a:tabLst>
            </a:pPr>
            <a:r>
              <a:rPr b="0" lang="en-US" sz="980" spc="-1" strike="noStrike">
                <a:solidFill>
                  <a:srgbClr val="475569"/>
                </a:solidFill>
                <a:latin typeface="Aptos"/>
              </a:rPr>
              <a:t>Position utilisateur ou bouton ITU pour la ligne 187.</a:t>
            </a:r>
            <a:endParaRPr b="0" lang="fr-FR" sz="980" spc="-1" strike="noStrike">
              <a:solidFill>
                <a:srgbClr val="000000"/>
              </a:solidFill>
              <a:latin typeface="Arial"/>
            </a:endParaRPr>
          </a:p>
        </p:txBody>
      </p:sp>
      <p:sp>
        <p:nvSpPr>
          <p:cNvPr id="140" name="Shape 20"/>
          <p:cNvSpPr/>
          <p:nvPr/>
        </p:nvSpPr>
        <p:spPr>
          <a:xfrm>
            <a:off x="7571160" y="4133160"/>
            <a:ext cx="3858480" cy="712800"/>
          </a:xfrm>
          <a:prstGeom prst="roundRect">
            <a:avLst>
              <a:gd name="adj" fmla="val 15385"/>
            </a:avLst>
          </a:prstGeom>
          <a:solidFill>
            <a:srgbClr val="ffffff"/>
          </a:solidFill>
          <a:ln w="12700">
            <a:solidFill>
              <a:srgbClr val="16a34a"/>
            </a:solidFill>
            <a:round/>
          </a:ln>
        </p:spPr>
        <p:style>
          <a:lnRef idx="0"/>
          <a:fillRef idx="0"/>
          <a:effectRef idx="0"/>
          <a:fontRef idx="minor"/>
        </p:style>
        <p:txBody>
          <a:bodyPr lIns="90000" rIns="90000" tIns="45000" bIns="45000" anchor="t">
            <a:noAutofit/>
          </a:bodyPr>
          <a:p>
            <a:endParaRPr b="0" lang="fr-FR" sz="1800" spc="-1" strike="noStrike">
              <a:solidFill>
                <a:srgbClr val="000000"/>
              </a:solidFill>
              <a:latin typeface="Arial"/>
            </a:endParaRPr>
          </a:p>
        </p:txBody>
      </p:sp>
      <p:sp>
        <p:nvSpPr>
          <p:cNvPr id="141" name="Shape 21"/>
          <p:cNvSpPr/>
          <p:nvPr/>
        </p:nvSpPr>
        <p:spPr>
          <a:xfrm>
            <a:off x="7790760" y="4316040"/>
            <a:ext cx="310680" cy="310680"/>
          </a:xfrm>
          <a:prstGeom prst="ellipse">
            <a:avLst/>
          </a:prstGeom>
          <a:solidFill>
            <a:srgbClr val="16a34a"/>
          </a:solidFill>
          <a:ln w="12700">
            <a:solidFill>
              <a:srgbClr val="16a34a">
                <a:alpha val="0"/>
              </a:srgbClr>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42" name="Text 22"/>
          <p:cNvSpPr/>
          <p:nvPr/>
        </p:nvSpPr>
        <p:spPr>
          <a:xfrm>
            <a:off x="7790760" y="4380120"/>
            <a:ext cx="310680" cy="91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ptos"/>
              </a:rPr>
              <a:t>4</a:t>
            </a:r>
            <a:endParaRPr b="0" lang="fr-FR" sz="850" spc="-1" strike="noStrike">
              <a:solidFill>
                <a:srgbClr val="000000"/>
              </a:solidFill>
              <a:latin typeface="Arial"/>
            </a:endParaRPr>
          </a:p>
        </p:txBody>
      </p:sp>
      <p:sp>
        <p:nvSpPr>
          <p:cNvPr id="143" name="Text 23"/>
          <p:cNvSpPr/>
          <p:nvPr/>
        </p:nvSpPr>
        <p:spPr>
          <a:xfrm>
            <a:off x="8266320" y="4251960"/>
            <a:ext cx="265140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0b1220"/>
                </a:solidFill>
                <a:latin typeface="Aptos"/>
              </a:rPr>
              <a:t>Lire les suggestions</a:t>
            </a:r>
            <a:endParaRPr b="0" lang="fr-FR" sz="1250" spc="-1" strike="noStrike">
              <a:solidFill>
                <a:srgbClr val="000000"/>
              </a:solidFill>
              <a:latin typeface="Arial"/>
            </a:endParaRPr>
          </a:p>
        </p:txBody>
      </p:sp>
      <p:sp>
        <p:nvSpPr>
          <p:cNvPr id="144" name="Text 24"/>
          <p:cNvSpPr/>
          <p:nvPr/>
        </p:nvSpPr>
        <p:spPr>
          <a:xfrm>
            <a:off x="8266320" y="4526280"/>
            <a:ext cx="288000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pc="-1" strike="noStrike">
                <a:solidFill>
                  <a:srgbClr val="475569"/>
                </a:solidFill>
                <a:latin typeface="Aptos"/>
              </a:rPr>
              <a:t>Lignes, arrêt et bus proches classés par distance.</a:t>
            </a:r>
            <a:endParaRPr b="0" lang="fr-FR" sz="980" spc="-1" strike="noStrike">
              <a:solidFill>
                <a:srgbClr val="000000"/>
              </a:solidFill>
              <a:latin typeface="Arial"/>
            </a:endParaRPr>
          </a:p>
        </p:txBody>
      </p:sp>
      <p:sp>
        <p:nvSpPr>
          <p:cNvPr id="145" name="Text 25"/>
          <p:cNvSpPr/>
          <p:nvPr/>
        </p:nvSpPr>
        <p:spPr>
          <a:xfrm>
            <a:off x="859680" y="5285160"/>
            <a:ext cx="6180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960" spc="-1" strike="noStrike">
                <a:solidFill>
                  <a:srgbClr val="64748b"/>
                </a:solidFill>
                <a:latin typeface="Aptos"/>
              </a:rPr>
              <a:t>Note : la capture reprise de l’ancienne présentation sert de base visuelle ; la version finale ajoute la ligne 187 et le bouton ITU.</a:t>
            </a:r>
            <a:endParaRPr b="0" lang="fr-FR" sz="960" spc="-1" strike="noStrike">
              <a:solidFill>
                <a:srgbClr val="000000"/>
              </a:solidFill>
              <a:latin typeface="Arial"/>
            </a:endParaRPr>
          </a:p>
        </p:txBody>
      </p:sp>
      <p:sp>
        <p:nvSpPr>
          <p:cNvPr id="146" name="Text 26"/>
          <p:cNvSpPr/>
          <p:nvPr/>
        </p:nvSpPr>
        <p:spPr>
          <a:xfrm>
            <a:off x="438840" y="6528960"/>
            <a:ext cx="93265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64748b"/>
                </a:solidFill>
                <a:latin typeface="Aptos"/>
                <a:ea typeface="Aptos"/>
              </a:rPr>
              <a:t>SIG Bus Antananarivo — Lignes 146 · 147 · 178 · 187</a:t>
            </a:r>
            <a:endParaRPr b="0" lang="fr-FR" sz="850" spc="-1" strike="noStrike">
              <a:solidFill>
                <a:srgbClr val="000000"/>
              </a:solidFill>
              <a:latin typeface="Arial"/>
            </a:endParaRPr>
          </a:p>
        </p:txBody>
      </p:sp>
      <p:sp>
        <p:nvSpPr>
          <p:cNvPr id="147" name="Text 27"/>
          <p:cNvSpPr/>
          <p:nvPr/>
        </p:nvSpPr>
        <p:spPr>
          <a:xfrm>
            <a:off x="11292840" y="6492240"/>
            <a:ext cx="438480" cy="255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900" spc="-1" strike="noStrike">
                <a:solidFill>
                  <a:srgbClr val="475569"/>
                </a:solidFill>
                <a:latin typeface="Aptos"/>
                <a:ea typeface="Aptos"/>
              </a:rPr>
              <a:t>9</a:t>
            </a:r>
            <a:endParaRPr b="0" lang="fr-F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220"/>
        </a:solidFill>
      </p:bgPr>
    </p:bg>
    <p:spTree>
      <p:nvGrpSpPr>
        <p:cNvPr id="1" name=""/>
        <p:cNvGrpSpPr/>
        <p:nvPr/>
      </p:nvGrpSpPr>
      <p:grpSpPr>
        <a:xfrm>
          <a:off x="0" y="0"/>
          <a:ext cx="0" cy="0"/>
          <a:chOff x="0" y="0"/>
          <a:chExt cx="0" cy="0"/>
        </a:xfrm>
      </p:grpSpPr>
      <p:sp>
        <p:nvSpPr>
          <p:cNvPr id="148" name="Text 0"/>
          <p:cNvSpPr/>
          <p:nvPr/>
        </p:nvSpPr>
        <p:spPr>
          <a:xfrm>
            <a:off x="658440" y="585360"/>
            <a:ext cx="8046360" cy="511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Aptos"/>
              </a:rPr>
              <a:t>Bilan, limites et perspectives</a:t>
            </a:r>
            <a:endParaRPr b="0" lang="fr-FR" sz="3200" spc="-1" strike="noStrike">
              <a:solidFill>
                <a:srgbClr val="ffffff"/>
              </a:solidFill>
              <a:latin typeface="Arial"/>
            </a:endParaRPr>
          </a:p>
        </p:txBody>
      </p:sp>
      <p:sp>
        <p:nvSpPr>
          <p:cNvPr id="149" name="Text 1"/>
          <p:cNvSpPr/>
          <p:nvPr/>
        </p:nvSpPr>
        <p:spPr>
          <a:xfrm>
            <a:off x="676800" y="1170360"/>
            <a:ext cx="74977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50" spc="-1" strike="noStrike">
                <a:solidFill>
                  <a:srgbClr val="cbd5e1"/>
                </a:solidFill>
                <a:latin typeface="Aptos"/>
              </a:rPr>
              <a:t>Une base fonctionnelle prête à évoluer vers un outil de mobilité réel</a:t>
            </a:r>
            <a:endParaRPr b="0" lang="fr-FR" sz="1450" spc="-1" strike="noStrike">
              <a:solidFill>
                <a:srgbClr val="ffffff"/>
              </a:solidFill>
              <a:latin typeface="Arial"/>
            </a:endParaRPr>
          </a:p>
        </p:txBody>
      </p:sp>
      <p:sp>
        <p:nvSpPr>
          <p:cNvPr id="150" name="Shape 2"/>
          <p:cNvSpPr/>
          <p:nvPr/>
        </p:nvSpPr>
        <p:spPr>
          <a:xfrm>
            <a:off x="749880" y="1828800"/>
            <a:ext cx="3337200" cy="2815920"/>
          </a:xfrm>
          <a:prstGeom prst="roundRect">
            <a:avLst>
              <a:gd name="adj" fmla="val 3896"/>
            </a:avLst>
          </a:prstGeom>
          <a:solidFill>
            <a:srgbClr val="0f172a"/>
          </a:solidFill>
          <a:ln w="12700">
            <a:solidFill>
              <a:srgbClr val="334155"/>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51" name="Text 3"/>
          <p:cNvSpPr/>
          <p:nvPr/>
        </p:nvSpPr>
        <p:spPr>
          <a:xfrm>
            <a:off x="1024200" y="213984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93c5fd"/>
                </a:solidFill>
                <a:latin typeface="Aptos"/>
              </a:rPr>
              <a:t>Objectifs atteints</a:t>
            </a:r>
            <a:endParaRPr b="0" lang="fr-FR" sz="1700" spc="-1" strike="noStrike">
              <a:solidFill>
                <a:srgbClr val="ffffff"/>
              </a:solidFill>
              <a:latin typeface="Arial"/>
            </a:endParaRPr>
          </a:p>
        </p:txBody>
      </p:sp>
      <p:sp>
        <p:nvSpPr>
          <p:cNvPr id="152" name="Text 4"/>
          <p:cNvSpPr/>
          <p:nvPr/>
        </p:nvSpPr>
        <p:spPr>
          <a:xfrm>
            <a:off x="1078920" y="265176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Base PostGIS structurée</a:t>
            </a:r>
            <a:endParaRPr b="0" lang="fr-FR" sz="1260" spc="-1" strike="noStrike">
              <a:solidFill>
                <a:srgbClr val="ffffff"/>
              </a:solidFill>
              <a:latin typeface="Arial"/>
            </a:endParaRPr>
          </a:p>
        </p:txBody>
      </p:sp>
      <p:sp>
        <p:nvSpPr>
          <p:cNvPr id="153" name="Text 5"/>
          <p:cNvSpPr/>
          <p:nvPr/>
        </p:nvSpPr>
        <p:spPr>
          <a:xfrm>
            <a:off x="1078920" y="304488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API REST fonctionnelle</a:t>
            </a:r>
            <a:endParaRPr b="0" lang="fr-FR" sz="1260" spc="-1" strike="noStrike">
              <a:solidFill>
                <a:srgbClr val="ffffff"/>
              </a:solidFill>
              <a:latin typeface="Arial"/>
            </a:endParaRPr>
          </a:p>
        </p:txBody>
      </p:sp>
      <p:sp>
        <p:nvSpPr>
          <p:cNvPr id="154" name="Text 6"/>
          <p:cNvSpPr/>
          <p:nvPr/>
        </p:nvSpPr>
        <p:spPr>
          <a:xfrm>
            <a:off x="1078920" y="343800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Carte Leaflet interactive</a:t>
            </a:r>
            <a:endParaRPr b="0" lang="fr-FR" sz="1260" spc="-1" strike="noStrike">
              <a:solidFill>
                <a:srgbClr val="ffffff"/>
              </a:solidFill>
              <a:latin typeface="Arial"/>
            </a:endParaRPr>
          </a:p>
        </p:txBody>
      </p:sp>
      <p:sp>
        <p:nvSpPr>
          <p:cNvPr id="155" name="Text 7"/>
          <p:cNvSpPr/>
          <p:nvPr/>
        </p:nvSpPr>
        <p:spPr>
          <a:xfrm>
            <a:off x="1078920" y="383148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Requêtes spatiales validées</a:t>
            </a:r>
            <a:endParaRPr b="0" lang="fr-FR" sz="1260" spc="-1" strike="noStrike">
              <a:solidFill>
                <a:srgbClr val="ffffff"/>
              </a:solidFill>
              <a:latin typeface="Arial"/>
            </a:endParaRPr>
          </a:p>
        </p:txBody>
      </p:sp>
      <p:sp>
        <p:nvSpPr>
          <p:cNvPr id="156" name="Shape 8"/>
          <p:cNvSpPr/>
          <p:nvPr/>
        </p:nvSpPr>
        <p:spPr>
          <a:xfrm>
            <a:off x="4407480" y="1828800"/>
            <a:ext cx="3337200" cy="2815920"/>
          </a:xfrm>
          <a:prstGeom prst="roundRect">
            <a:avLst>
              <a:gd name="adj" fmla="val 3896"/>
            </a:avLst>
          </a:prstGeom>
          <a:solidFill>
            <a:srgbClr val="0f172a"/>
          </a:solidFill>
          <a:ln w="12700">
            <a:solidFill>
              <a:srgbClr val="334155"/>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57" name="Text 9"/>
          <p:cNvSpPr/>
          <p:nvPr/>
        </p:nvSpPr>
        <p:spPr>
          <a:xfrm>
            <a:off x="4681800" y="213984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dba74"/>
                </a:solidFill>
                <a:latin typeface="Aptos"/>
              </a:rPr>
              <a:t>Limites actuelles</a:t>
            </a:r>
            <a:endParaRPr b="0" lang="fr-FR" sz="1700" spc="-1" strike="noStrike">
              <a:solidFill>
                <a:srgbClr val="ffffff"/>
              </a:solidFill>
              <a:latin typeface="Arial"/>
            </a:endParaRPr>
          </a:p>
        </p:txBody>
      </p:sp>
      <p:sp>
        <p:nvSpPr>
          <p:cNvPr id="158" name="Text 10"/>
          <p:cNvSpPr/>
          <p:nvPr/>
        </p:nvSpPr>
        <p:spPr>
          <a:xfrm>
            <a:off x="4736520" y="265176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Tracés pédagogiques</a:t>
            </a:r>
            <a:endParaRPr b="0" lang="fr-FR" sz="1260" spc="-1" strike="noStrike">
              <a:solidFill>
                <a:srgbClr val="ffffff"/>
              </a:solidFill>
              <a:latin typeface="Arial"/>
            </a:endParaRPr>
          </a:p>
        </p:txBody>
      </p:sp>
      <p:sp>
        <p:nvSpPr>
          <p:cNvPr id="159" name="Text 11"/>
          <p:cNvSpPr/>
          <p:nvPr/>
        </p:nvSpPr>
        <p:spPr>
          <a:xfrm>
            <a:off x="4736520" y="304488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Bus simulés, pas GPS réel</a:t>
            </a:r>
            <a:endParaRPr b="0" lang="fr-FR" sz="1260" spc="-1" strike="noStrike">
              <a:solidFill>
                <a:srgbClr val="ffffff"/>
              </a:solidFill>
              <a:latin typeface="Arial"/>
            </a:endParaRPr>
          </a:p>
        </p:txBody>
      </p:sp>
      <p:sp>
        <p:nvSpPr>
          <p:cNvPr id="160" name="Text 12"/>
          <p:cNvSpPr/>
          <p:nvPr/>
        </p:nvSpPr>
        <p:spPr>
          <a:xfrm>
            <a:off x="4736520" y="3438000"/>
            <a:ext cx="2486880" cy="182520"/>
          </a:xfrm>
          <a:prstGeom prst="rect">
            <a:avLst/>
          </a:prstGeom>
          <a:noFill/>
          <a:ln w="0">
            <a:noFill/>
          </a:ln>
        </p:spPr>
        <p:style>
          <a:lnRef idx="0"/>
          <a:fillRef idx="0"/>
          <a:effectRef idx="0"/>
          <a:fontRef idx="minor"/>
        </p:style>
        <p:txBody>
          <a:bodyPr lIns="0" rIns="0" tIns="0" bIns="0" anchor="ctr">
            <a:normAutofit fontScale="87222"/>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Géolocalisation navigateur variable</a:t>
            </a:r>
            <a:endParaRPr b="0" lang="fr-FR" sz="1260" spc="-1" strike="noStrike">
              <a:solidFill>
                <a:srgbClr val="ffffff"/>
              </a:solidFill>
              <a:latin typeface="Arial"/>
            </a:endParaRPr>
          </a:p>
        </p:txBody>
      </p:sp>
      <p:sp>
        <p:nvSpPr>
          <p:cNvPr id="161" name="Text 13"/>
          <p:cNvSpPr/>
          <p:nvPr/>
        </p:nvSpPr>
        <p:spPr>
          <a:xfrm>
            <a:off x="4736520" y="383148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pc="-1" strike="noStrike">
                <a:solidFill>
                  <a:srgbClr val="e2e8f0"/>
                </a:solidFill>
                <a:latin typeface="Aptos"/>
              </a:rPr>
              <a:t>•  </a:t>
            </a:r>
            <a:r>
              <a:rPr b="0" lang="en-US" sz="1260" spc="-1" strike="noStrike">
                <a:solidFill>
                  <a:srgbClr val="e2e8f0"/>
                </a:solidFill>
                <a:latin typeface="Aptos"/>
              </a:rPr>
              <a:t>Données non officielles</a:t>
            </a:r>
            <a:endParaRPr b="0" lang="fr-FR" sz="1260" spc="-1" strike="noStrike">
              <a:solidFill>
                <a:srgbClr val="ffffff"/>
              </a:solidFill>
              <a:latin typeface="Arial"/>
            </a:endParaRPr>
          </a:p>
        </p:txBody>
      </p:sp>
      <p:sp>
        <p:nvSpPr>
          <p:cNvPr id="162" name="Shape 14"/>
          <p:cNvSpPr/>
          <p:nvPr/>
        </p:nvSpPr>
        <p:spPr>
          <a:xfrm>
            <a:off x="8065080" y="1828800"/>
            <a:ext cx="3337200" cy="2815920"/>
          </a:xfrm>
          <a:prstGeom prst="roundRect">
            <a:avLst>
              <a:gd name="adj" fmla="val 3896"/>
            </a:avLst>
          </a:prstGeom>
          <a:solidFill>
            <a:srgbClr val="0f172a"/>
          </a:solidFill>
          <a:ln w="12700">
            <a:solidFill>
              <a:srgbClr val="334155"/>
            </a:solidFill>
            <a:round/>
          </a:ln>
        </p:spPr>
        <p:style>
          <a:lnRef idx="0"/>
          <a:fillRef idx="0"/>
          <a:effectRef idx="0"/>
          <a:fontRef idx="minor"/>
        </p:style>
        <p:txBody>
          <a:bodyPr lIns="90000" rIns="90000" tIns="45000" bIns="45000" anchor="t">
            <a:noAutofit/>
          </a:bodyPr>
          <a:p>
            <a:endParaRPr b="0" lang="fr-FR" sz="1800" spc="-1" strike="noStrike">
              <a:solidFill>
                <a:srgbClr val="ffffff"/>
              </a:solidFill>
              <a:latin typeface="Arial"/>
            </a:endParaRPr>
          </a:p>
        </p:txBody>
      </p:sp>
      <p:sp>
        <p:nvSpPr>
          <p:cNvPr id="163" name="Text 15"/>
          <p:cNvSpPr/>
          <p:nvPr/>
        </p:nvSpPr>
        <p:spPr>
          <a:xfrm>
            <a:off x="8339400" y="213984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86efac"/>
                </a:solidFill>
                <a:latin typeface="Aptos"/>
              </a:rPr>
              <a:t>Prochaines étapes</a:t>
            </a:r>
            <a:endParaRPr b="0" lang="fr-FR" sz="1700" spc="-1" strike="noStrike">
              <a:solidFill>
                <a:srgbClr val="ffffff"/>
              </a:solidFill>
              <a:latin typeface="Arial"/>
            </a:endParaRPr>
          </a:p>
        </p:txBody>
      </p:sp>
      <p:sp>
        <p:nvSpPr>
          <p:cNvPr id="164" name="Text 16"/>
          <p:cNvSpPr/>
          <p:nvPr/>
        </p:nvSpPr>
        <p:spPr>
          <a:xfrm>
            <a:off x="8394120" y="259704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40" spc="-1" strike="noStrike">
                <a:solidFill>
                  <a:srgbClr val="e2e8f0"/>
                </a:solidFill>
                <a:latin typeface="Aptos"/>
              </a:rPr>
              <a:t>→  </a:t>
            </a:r>
            <a:r>
              <a:rPr b="0" lang="en-US" sz="1240" spc="-1" strike="noStrike">
                <a:solidFill>
                  <a:srgbClr val="e2e8f0"/>
                </a:solidFill>
                <a:latin typeface="Aptos"/>
              </a:rPr>
              <a:t>Relevés GPS terrain</a:t>
            </a:r>
            <a:endParaRPr b="0" lang="fr-FR" sz="1240" spc="-1" strike="noStrike">
              <a:solidFill>
                <a:srgbClr val="ffffff"/>
              </a:solidFill>
              <a:latin typeface="Arial"/>
            </a:endParaRPr>
          </a:p>
        </p:txBody>
      </p:sp>
      <p:sp>
        <p:nvSpPr>
          <p:cNvPr id="165" name="Text 17"/>
          <p:cNvSpPr/>
          <p:nvPr/>
        </p:nvSpPr>
        <p:spPr>
          <a:xfrm>
            <a:off x="8394120" y="294444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40" spc="-1" strike="noStrike">
                <a:solidFill>
                  <a:srgbClr val="e2e8f0"/>
                </a:solidFill>
                <a:latin typeface="Aptos"/>
              </a:rPr>
              <a:t>→  </a:t>
            </a:r>
            <a:r>
              <a:rPr b="0" lang="en-US" sz="1240" spc="-1" strike="noStrike">
                <a:solidFill>
                  <a:srgbClr val="e2e8f0"/>
                </a:solidFill>
                <a:latin typeface="Aptos"/>
              </a:rPr>
              <a:t>Suivi temps réel</a:t>
            </a:r>
            <a:endParaRPr b="0" lang="fr-FR" sz="1240" spc="-1" strike="noStrike">
              <a:solidFill>
                <a:srgbClr val="ffffff"/>
              </a:solidFill>
              <a:latin typeface="Arial"/>
            </a:endParaRPr>
          </a:p>
        </p:txBody>
      </p:sp>
      <p:sp>
        <p:nvSpPr>
          <p:cNvPr id="166" name="Text 18"/>
          <p:cNvSpPr/>
          <p:nvPr/>
        </p:nvSpPr>
        <p:spPr>
          <a:xfrm>
            <a:off x="8394120" y="329184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40" spc="-1" strike="noStrike">
                <a:solidFill>
                  <a:srgbClr val="e2e8f0"/>
                </a:solidFill>
                <a:latin typeface="Aptos"/>
              </a:rPr>
              <a:t>→  </a:t>
            </a:r>
            <a:r>
              <a:rPr b="0" lang="en-US" sz="1240" spc="-1" strike="noStrike">
                <a:solidFill>
                  <a:srgbClr val="e2e8f0"/>
                </a:solidFill>
                <a:latin typeface="Aptos"/>
              </a:rPr>
              <a:t>Horaires et attente</a:t>
            </a:r>
            <a:endParaRPr b="0" lang="fr-FR" sz="1240" spc="-1" strike="noStrike">
              <a:solidFill>
                <a:srgbClr val="ffffff"/>
              </a:solidFill>
              <a:latin typeface="Arial"/>
            </a:endParaRPr>
          </a:p>
        </p:txBody>
      </p:sp>
      <p:sp>
        <p:nvSpPr>
          <p:cNvPr id="167" name="Text 19"/>
          <p:cNvSpPr/>
          <p:nvPr/>
        </p:nvSpPr>
        <p:spPr>
          <a:xfrm>
            <a:off x="8394120" y="363924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40" spc="-1" strike="noStrike">
                <a:solidFill>
                  <a:srgbClr val="e2e8f0"/>
                </a:solidFill>
                <a:latin typeface="Aptos"/>
              </a:rPr>
              <a:t>→  </a:t>
            </a:r>
            <a:r>
              <a:rPr b="0" lang="en-US" sz="1240" spc="-1" strike="noStrike">
                <a:solidFill>
                  <a:srgbClr val="e2e8f0"/>
                </a:solidFill>
                <a:latin typeface="Aptos"/>
              </a:rPr>
              <a:t>Calculateur d’itinéraire</a:t>
            </a:r>
            <a:endParaRPr b="0" lang="fr-FR" sz="1240" spc="-1" strike="noStrike">
              <a:solidFill>
                <a:srgbClr val="ffffff"/>
              </a:solidFill>
              <a:latin typeface="Arial"/>
            </a:endParaRPr>
          </a:p>
        </p:txBody>
      </p:sp>
      <p:sp>
        <p:nvSpPr>
          <p:cNvPr id="168" name="Text 20"/>
          <p:cNvSpPr/>
          <p:nvPr/>
        </p:nvSpPr>
        <p:spPr>
          <a:xfrm>
            <a:off x="8394120" y="3986640"/>
            <a:ext cx="248688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40" spc="-1" strike="noStrike">
                <a:solidFill>
                  <a:srgbClr val="e2e8f0"/>
                </a:solidFill>
                <a:latin typeface="Aptos"/>
              </a:rPr>
              <a:t>→  </a:t>
            </a:r>
            <a:r>
              <a:rPr b="0" lang="en-US" sz="1240" spc="-1" strike="noStrike">
                <a:solidFill>
                  <a:srgbClr val="e2e8f0"/>
                </a:solidFill>
                <a:latin typeface="Aptos"/>
              </a:rPr>
              <a:t>Version mobile</a:t>
            </a:r>
            <a:endParaRPr b="0" lang="fr-FR" sz="1240" spc="-1" strike="noStrike">
              <a:solidFill>
                <a:srgbClr val="ffffff"/>
              </a:solidFill>
              <a:latin typeface="Arial"/>
            </a:endParaRPr>
          </a:p>
        </p:txBody>
      </p:sp>
      <p:sp>
        <p:nvSpPr>
          <p:cNvPr id="169" name="Text 21"/>
          <p:cNvSpPr/>
          <p:nvPr/>
        </p:nvSpPr>
        <p:spPr>
          <a:xfrm>
            <a:off x="749880" y="5596200"/>
            <a:ext cx="10606680" cy="475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700" spc="-1" strike="noStrike">
                <a:solidFill>
                  <a:srgbClr val="ffffff"/>
                </a:solidFill>
                <a:latin typeface="Aptos"/>
              </a:rPr>
              <a:t>Merci de votre attention</a:t>
            </a:r>
            <a:endParaRPr b="0" lang="fr-FR" sz="2700" spc="-1" strike="noStrike">
              <a:solidFill>
                <a:srgbClr val="ffffff"/>
              </a:solidFill>
              <a:latin typeface="Arial"/>
            </a:endParaRPr>
          </a:p>
        </p:txBody>
      </p:sp>
      <p:sp>
        <p:nvSpPr>
          <p:cNvPr id="170" name="Text 22"/>
          <p:cNvSpPr/>
          <p:nvPr/>
        </p:nvSpPr>
        <p:spPr>
          <a:xfrm>
            <a:off x="749880" y="6144840"/>
            <a:ext cx="106066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50" spc="-1" strike="noStrike">
                <a:solidFill>
                  <a:srgbClr val="cbd5e1"/>
                </a:solidFill>
                <a:latin typeface="Aptos"/>
              </a:rPr>
              <a:t>SIG Bus Antananarivo — 146 · 147 · 178 · 187</a:t>
            </a:r>
            <a:endParaRPr b="0" lang="fr-FR" sz="12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LibreOffice/24.2.7.2$Linux_X86_64 LibreOffice_project/420$Build-2</Application>
  <AppVersion>15.0000</AppVersion>
  <Words>0</Words>
  <Paragraphs>0</Paragraphs>
  <Company>Groupe SIG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2026-07-05T13:48:31Z</dcterms:created>
  <dc:creator>OpenAI</dc:creator>
  <dc:description/>
  <dc:language>fr-FR</dc:language>
  <cp:lastModifiedBy/>
  <dcterms:modified xsi:type="dcterms:W3CDTF">2026-07-06T05:50:05Z</dcterms:modified>
  <cp:revision>2</cp:revision>
  <dc:subject>Projet SIG Bus Antananarivo</dc:subject>
  <dc:title>SIG Bus Antananarivo - Webmapping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On-screen Show (16:9)</vt:lpwstr>
  </property>
  <property fmtid="{D5CDD505-2E9C-101B-9397-08002B2CF9AE}" pid="4" name="Slides">
    <vt:i4>12</vt:i4>
  </property>
</Properties>
</file>